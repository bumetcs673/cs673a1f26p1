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9"/>
  </p:notesMasterIdLst>
  <p:sldIdLst>
    <p:sldId id="256" r:id="rId2"/>
    <p:sldId id="257" r:id="rId3"/>
    <p:sldId id="258" r:id="rId4"/>
    <p:sldId id="259" r:id="rId5"/>
    <p:sldId id="260" r:id="rId6"/>
    <p:sldId id="261" r:id="rId7"/>
    <p:sldId id="262" r:id="rId8"/>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76423" autoAdjust="0"/>
  </p:normalViewPr>
  <p:slideViewPr>
    <p:cSldViewPr snapToGrid="0">
      <p:cViewPr varScale="1">
        <p:scale>
          <a:sx n="92" d="100"/>
          <a:sy n="92" d="100"/>
        </p:scale>
        <p:origin x="1406" y="8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Hello everyone. We are Team 1, and our project is an AI movie recommendation chatbot. It helps users discover movies through natural language. A user can describe a genre, mood, or preferred runtime, and receive suitable recommendations. Our target users are people who want a faster, easier way to choose a movie. This iteration zero presentation covers our proposed scope, technical approach, development plan, and main risks. Our first priority is a working chatbot in a web interface. The features and technologies we discuss are plans, rather than completed implementation.</a:t>
            </a:r>
          </a:p>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Our essential features are natural language input, a recommended movie list, and a display of the preferences the chatbot recognized. For example, a user might ask for a recent comedy, and the interface would show the detected genre and year preference. Desirable features include movie details, follow-up refinement, and a personal watchlist. If time allows, we may add multilingual support and information about where to watch each movie. We will prioritize the core recommendation experience. Additional features will follow only when that basic workflow works reliably and the team has enough time.</a:t>
            </a:r>
          </a:p>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The proposed system has a frontend, a backend, and external services. The frontend could use HTML, CSS, and JavaScript, or React. The backend could use Python or Java. A movie database API would provide movie information, while an AI API would help interpret user requests. We still need to confirm the final stack. The product must be a presentable web application, even if we use notebooks for early experiments. Our main technical task is to connect preference recognition with movie retrieval, then return clear, useful recommendations through the chat interface.</a:t>
            </a:r>
          </a:p>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We plan three development iterations. Iteration one covers environment setup, a basic interface, movie API integration, and the basic chatbot. Its estimate is twenty-five to thirty-five person-hours. Iteration two adds movie information, filters, a database, and frontend and backend integration. Its estimate is thirty to forty person-hours. Iteration three focuses on refinement, history and feedback, testing, security review, deployment, and documentation. Its estimate is twenty to twenty-five person-hours. The estimated total is seventy-five to one hundred person-hours. These are team effort estimates. We still need to assign individual tasks and confirm the schedule.</a:t>
            </a:r>
          </a:p>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This example shows how we expect the chatbot to work. A user asks for a comedy released after 2020 and shorter than two hours. The system recognizes three preferences: the comedy genre, a release year after 2020, and a runtime under 120 minutes. It then returns matching movies with brief descriptions and ratings. Showing the recognized preferences lets the user check whether the chatbot understood the request. The user could then ask for something similar, using the follow-up refinement feature. This is a proposed interaction example. It illustrates our intended experience rather than a demonstration of a completed system.</a:t>
            </a:r>
          </a:p>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We aim to return recommendations within three seconds under normal network conditions. The interface should work on desktop and mobile browsers. API keys must remain on the server, and the proposal calls for input sanitization to address security risks. Our six team roles cover leadership, requirements, implementation, configuration, quality assurance, and security. Developers will use feature branches and ask another member to review each pull request. They will test their own components, while the QA leader focuses on integration. GitHub Actions will support automated checks, and GitHub Issues will track defects.</a:t>
            </a:r>
          </a:p>
          <a:p>
            <a:endParaRPr/>
          </a:p>
          <a:p>
            <a:r>
              <a:t>Source: Copy of CS673_SPPP.docx, project proposal and planning, version 0, 09/26/2026.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Our main risks are limited time, integration problems, and dependence on external APIs. We will manage time by building essential features first and dividing tasks clearly. Frequent testing and peer review will help us catch integration problems early. If an external service is unavailable or too difficult to integrate, we may use a simpler local solution to preserve the core functionality. Our next steps are to confirm the technology stack, assign iteration one tasks, and build the first working recommendation flow. That gives us a baseline for later improvements. Thank you, and we welcome questions.</a:t>
            </a:r>
          </a:p>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4" name="Accent rule">
            <a:extLst>
              <a:ext uri="{FF2B5EF4-FFF2-40B4-BE49-F238E27FC236}">
                <a16:creationId xmlns:a16="http://schemas.microsoft.com/office/drawing/2014/main" id="{F80CAA78-75B4-4821-9930-2CE31F07AC7D}"/>
              </a:ext>
            </a:extLst>
          </p:cNvPr>
          <p:cNvSpPr>
            <a:spLocks noGrp="1"/>
          </p:cNvSpPr>
          <p:nvPr/>
        </p:nvSpPr>
        <p:spPr>
          <a:xfrm>
            <a:off x="5791200" y="2209800"/>
            <a:ext cx="609600" cy="38100"/>
          </a:xfrm>
          <a:prstGeom prst="rect">
            <a:avLst/>
          </a:prstGeom>
          <a:solidFill>
            <a:schemeClr val="accent1"/>
          </a:solidFill>
          <a:ln>
            <a:noFill/>
            <a:prstDash val="solid"/>
          </a:ln>
        </p:spPr>
      </p:sp>
      <p:sp>
        <p:nvSpPr>
          <p:cNvPr id="2" name="Title">
            <a:extLst>
              <a:ext uri="{FF2B5EF4-FFF2-40B4-BE49-F238E27FC236}">
                <a16:creationId xmlns:a16="http://schemas.microsoft.com/office/drawing/2014/main" id="{9E5F6603-D392-4EAB-BA96-BBA113EE2387}"/>
              </a:ext>
            </a:extLst>
          </p:cNvPr>
          <p:cNvSpPr>
            <a:spLocks noGrp="1"/>
          </p:cNvSpPr>
          <p:nvPr>
            <p:ph type="title"/>
          </p:nvPr>
        </p:nvSpPr>
        <p:spPr>
          <a:xfrm>
            <a:off x="1219200" y="2590800"/>
            <a:ext cx="9753600" cy="990600"/>
          </a:xfrm>
          <a:prstGeom prst="rect">
            <a:avLst/>
          </a:prstGeom>
          <a:noFill/>
          <a:ln>
            <a:noFill/>
            <a:prstDash val="solid"/>
          </a:ln>
        </p:spPr>
        <p:txBody>
          <a:bodyPr wrap="square" lIns="0" tIns="0" rIns="0" bIns="0" anchor="ctr">
            <a:normAutofit/>
          </a:bodyPr>
          <a:lstStyle>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3" name="Subtitle">
            <a:extLst>
              <a:ext uri="{FF2B5EF4-FFF2-40B4-BE49-F238E27FC236}">
                <a16:creationId xmlns:a16="http://schemas.microsoft.com/office/drawing/2014/main" id="{228594F8-C546-4A64-BAA7-485B96C549C8}"/>
              </a:ext>
            </a:extLst>
          </p:cNvPr>
          <p:cNvSpPr>
            <a:spLocks noGrp="1"/>
          </p:cNvSpPr>
          <p:nvPr>
            <p:ph type="subTitle" idx="1"/>
          </p:nvPr>
        </p:nvSpPr>
        <p:spPr>
          <a:xfrm>
            <a:off x="1828800" y="3771900"/>
            <a:ext cx="8534400" cy="762000"/>
          </a:xfrm>
          <a:prstGeom prst="rect">
            <a:avLst/>
          </a:prstGeom>
          <a:noFill/>
          <a:ln>
            <a:noFill/>
            <a:prstDash val="solid"/>
          </a:ln>
        </p:spPr>
        <p:txBody>
          <a:bodyPr wrap="square" lIns="0" tIns="0" rIns="0" bIns="0" anchor="ctr">
            <a:normAutofit/>
          </a:bodyPr>
          <a:lstStyle>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a:xfrm>
          <a:off x="0" y="0"/>
          <a:ext cx="0" cy="0"/>
          <a:chOff x="0" y="0"/>
          <a:chExt cx="0" cy="0"/>
        </a:xfrm>
      </p:grpSpPr>
      <p:sp>
        <p:nvSpPr>
          <p:cNvPr id="3" name="Accent rule">
            <a:extLst>
              <a:ext uri="{FF2B5EF4-FFF2-40B4-BE49-F238E27FC236}">
                <a16:creationId xmlns:a16="http://schemas.microsoft.com/office/drawing/2014/main" id="{3A96EB87-A88B-4CBF-9F1F-0B614286727E}"/>
              </a:ext>
            </a:extLst>
          </p:cNvPr>
          <p:cNvSpPr>
            <a:spLocks noGrp="1"/>
          </p:cNvSpPr>
          <p:nvPr/>
        </p:nvSpPr>
        <p:spPr>
          <a:xfrm>
            <a:off x="5791200" y="2476500"/>
            <a:ext cx="609600" cy="38100"/>
          </a:xfrm>
          <a:prstGeom prst="rect">
            <a:avLst/>
          </a:prstGeom>
          <a:solidFill>
            <a:schemeClr val="accent1"/>
          </a:solidFill>
          <a:ln>
            <a:noFill/>
            <a:prstDash val="solid"/>
          </a:ln>
        </p:spPr>
      </p:sp>
      <p:sp>
        <p:nvSpPr>
          <p:cNvPr id="2" name="Section title">
            <a:extLst>
              <a:ext uri="{FF2B5EF4-FFF2-40B4-BE49-F238E27FC236}">
                <a16:creationId xmlns:a16="http://schemas.microsoft.com/office/drawing/2014/main" id="{F78BDA96-8E17-4614-A6B9-5262B329317D}"/>
              </a:ext>
            </a:extLst>
          </p:cNvPr>
          <p:cNvSpPr>
            <a:spLocks noGrp="1"/>
          </p:cNvSpPr>
          <p:nvPr>
            <p:ph type="title"/>
          </p:nvPr>
        </p:nvSpPr>
        <p:spPr>
          <a:xfrm>
            <a:off x="1219200" y="2857500"/>
            <a:ext cx="9753600" cy="1143000"/>
          </a:xfrm>
          <a:prstGeom prst="rect">
            <a:avLst/>
          </a:prstGeom>
          <a:noFill/>
          <a:ln>
            <a:noFill/>
            <a:prstDash val="solid"/>
          </a:ln>
        </p:spPr>
        <p:txBody>
          <a:bodyPr wrap="square" lIns="0" tIns="0" rIns="0" bIns="0" anchor="ctr">
            <a:normAutofit/>
          </a:bodyPr>
          <a:lstStyle>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a:xfrm>
          <a:off x="0" y="0"/>
          <a:ext cx="0" cy="0"/>
          <a:chOff x="0" y="0"/>
          <a:chExt cx="0" cy="0"/>
        </a:xfrm>
      </p:grpSpPr>
      <p:sp>
        <p:nvSpPr>
          <p:cNvPr id="4" name="Accent rule">
            <a:extLst>
              <a:ext uri="{FF2B5EF4-FFF2-40B4-BE49-F238E27FC236}">
                <a16:creationId xmlns:a16="http://schemas.microsoft.com/office/drawing/2014/main" id="{728D0ACD-6589-43B6-A453-380B4B835E6C}"/>
              </a:ext>
            </a:extLst>
          </p:cNvPr>
          <p:cNvSpPr>
            <a:spLocks noGrp="1"/>
          </p:cNvSpPr>
          <p:nvPr/>
        </p:nvSpPr>
        <p:spPr>
          <a:xfrm>
            <a:off x="685800" y="1524000"/>
            <a:ext cx="609600" cy="38100"/>
          </a:xfrm>
          <a:prstGeom prst="rect">
            <a:avLst/>
          </a:prstGeom>
          <a:solidFill>
            <a:schemeClr val="accent1"/>
          </a:solidFill>
          <a:ln>
            <a:noFill/>
            <a:prstDash val="solid"/>
          </a:ln>
        </p:spPr>
      </p:sp>
      <p:sp>
        <p:nvSpPr>
          <p:cNvPr id="2" name="Title">
            <a:extLst>
              <a:ext uri="{FF2B5EF4-FFF2-40B4-BE49-F238E27FC236}">
                <a16:creationId xmlns:a16="http://schemas.microsoft.com/office/drawing/2014/main" id="{2056C895-AF7F-4A4F-AE66-0CAB8AEEED75}"/>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3" name="Body">
            <a:extLst>
              <a:ext uri="{FF2B5EF4-FFF2-40B4-BE49-F238E27FC236}">
                <a16:creationId xmlns:a16="http://schemas.microsoft.com/office/drawing/2014/main" id="{E54E1019-43A4-47C4-8BD9-6F1F2001D41C}"/>
              </a:ext>
            </a:extLst>
          </p:cNvPr>
          <p:cNvSpPr>
            <a:spLocks noGrp="1"/>
          </p:cNvSpPr>
          <p:nvPr>
            <p:ph type="body" idx="1"/>
          </p:nvPr>
        </p:nvSpPr>
        <p:spPr>
          <a:xfrm>
            <a:off x="685800" y="1905000"/>
            <a:ext cx="10820400" cy="4267200"/>
          </a:xfrm>
          <a:prstGeom prst="rect">
            <a:avLst/>
          </a:prstGeom>
          <a:noFill/>
          <a:ln>
            <a:noFill/>
            <a:prstDash val="solid"/>
          </a:ln>
        </p:spPr>
        <p:txBody>
          <a:bodyPr wrap="square" lIns="0" tIns="0" rIns="0" bIns="0" anchor="t">
            <a:normAutofit/>
          </a:bodyPr>
          <a:lstStyle>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a:xfrm>
          <a:off x="0" y="0"/>
          <a:ext cx="0" cy="0"/>
          <a:chOff x="0" y="0"/>
          <a:chExt cx="0" cy="0"/>
        </a:xfrm>
      </p:grpSpPr>
      <p:sp>
        <p:nvSpPr>
          <p:cNvPr id="5" name="Accent rule">
            <a:extLst>
              <a:ext uri="{FF2B5EF4-FFF2-40B4-BE49-F238E27FC236}">
                <a16:creationId xmlns:a16="http://schemas.microsoft.com/office/drawing/2014/main" id="{60BC4C58-5FB2-4AC1-AE18-F297367DC4BA}"/>
              </a:ext>
            </a:extLst>
          </p:cNvPr>
          <p:cNvSpPr>
            <a:spLocks noGrp="1"/>
          </p:cNvSpPr>
          <p:nvPr/>
        </p:nvSpPr>
        <p:spPr>
          <a:xfrm>
            <a:off x="685800" y="1524000"/>
            <a:ext cx="609600" cy="38100"/>
          </a:xfrm>
          <a:prstGeom prst="rect">
            <a:avLst/>
          </a:prstGeom>
          <a:solidFill>
            <a:schemeClr val="accent1"/>
          </a:solidFill>
          <a:ln>
            <a:noFill/>
            <a:prstDash val="solid"/>
          </a:ln>
        </p:spPr>
      </p:sp>
      <p:sp>
        <p:nvSpPr>
          <p:cNvPr id="2" name="Title">
            <a:extLst>
              <a:ext uri="{FF2B5EF4-FFF2-40B4-BE49-F238E27FC236}">
                <a16:creationId xmlns:a16="http://schemas.microsoft.com/office/drawing/2014/main" id="{86EA92F7-6C28-445F-9523-2124E3606CF3}"/>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3" name="Left column">
            <a:extLst>
              <a:ext uri="{FF2B5EF4-FFF2-40B4-BE49-F238E27FC236}">
                <a16:creationId xmlns:a16="http://schemas.microsoft.com/office/drawing/2014/main" id="{BB962C19-4511-4A06-B103-3FD7C4B8A247}"/>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
        <p:nvSpPr>
          <p:cNvPr id="4" name="Right column">
            <a:extLst>
              <a:ext uri="{FF2B5EF4-FFF2-40B4-BE49-F238E27FC236}">
                <a16:creationId xmlns:a16="http://schemas.microsoft.com/office/drawing/2014/main" id="{DFB8838C-6789-4868-814E-56FA64F0F606}"/>
              </a:ext>
            </a:extLst>
          </p:cNvPr>
          <p:cNvSpPr>
            <a:spLocks noGrp="1"/>
          </p:cNvSpPr>
          <p:nvPr>
            <p:ph type="body" idx="2"/>
          </p:nvPr>
        </p:nvSpPr>
        <p:spPr>
          <a:xfrm>
            <a:off x="6477000" y="1905000"/>
            <a:ext cx="5029200" cy="4267200"/>
          </a:xfrm>
          <a:prstGeom prst="rect">
            <a:avLst/>
          </a:prstGeom>
          <a:noFill/>
          <a:ln>
            <a:noFill/>
            <a:prstDash val="solid"/>
          </a:ln>
        </p:spPr>
        <p:txBody>
          <a:bodyPr wrap="square" lIns="0" tIns="0" rIns="0" bIns="0" anchor="t">
            <a:normAutofit/>
          </a:bodyPr>
          <a:lstStyle>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a:xfrm>
          <a:off x="0" y="0"/>
          <a:ext cx="0" cy="0"/>
          <a:chOff x="0" y="0"/>
          <a:chExt cx="0" cy="0"/>
        </a:xfrm>
      </p:grpSpPr>
      <p:sp>
        <p:nvSpPr>
          <p:cNvPr id="4" name="Accent rule">
            <a:extLst>
              <a:ext uri="{FF2B5EF4-FFF2-40B4-BE49-F238E27FC236}">
                <a16:creationId xmlns:a16="http://schemas.microsoft.com/office/drawing/2014/main" id="{7304474F-211C-4235-8B28-81139995F070}"/>
              </a:ext>
            </a:extLst>
          </p:cNvPr>
          <p:cNvSpPr>
            <a:spLocks noGrp="1"/>
          </p:cNvSpPr>
          <p:nvPr/>
        </p:nvSpPr>
        <p:spPr>
          <a:xfrm>
            <a:off x="685800" y="1524000"/>
            <a:ext cx="609600" cy="38100"/>
          </a:xfrm>
          <a:prstGeom prst="rect">
            <a:avLst/>
          </a:prstGeom>
          <a:solidFill>
            <a:schemeClr val="accent1"/>
          </a:solidFill>
          <a:ln>
            <a:noFill/>
            <a:prstDash val="solid"/>
          </a:ln>
        </p:spPr>
      </p:sp>
      <p:sp>
        <p:nvSpPr>
          <p:cNvPr id="2" name="Title">
            <a:extLst>
              <a:ext uri="{FF2B5EF4-FFF2-40B4-BE49-F238E27FC236}">
                <a16:creationId xmlns:a16="http://schemas.microsoft.com/office/drawing/2014/main" id="{05905E13-5E1F-46F8-8DF7-866A72B7BA50}"/>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3" name="Left column">
            <a:extLst>
              <a:ext uri="{FF2B5EF4-FFF2-40B4-BE49-F238E27FC236}">
                <a16:creationId xmlns:a16="http://schemas.microsoft.com/office/drawing/2014/main" id="{1B1182D0-BDE0-451F-84DC-D7D2B3A0B889}"/>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71927"/>
        </a:solidFill>
        <a:effectLst/>
      </p:bgPr>
    </p:bg>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58984DF3-D349-4A86-8E66-EAB11DFDBA14}"/>
              </a:ext>
            </a:extLst>
          </p:cNvPr>
          <p:cNvSpPr>
            <a:spLocks noGrp="1"/>
          </p:cNvSpPr>
          <p:nvPr/>
        </p:nvSpPr>
        <p:spPr>
          <a:xfrm>
            <a:off x="704850" y="1857375"/>
            <a:ext cx="10287000" cy="1905000"/>
          </a:xfrm>
          <a:prstGeom prst="rect">
            <a:avLst/>
          </a:prstGeom>
          <a:noFill/>
          <a:ln w="0">
            <a:noFill/>
          </a:ln>
        </p:spPr>
        <p:txBody>
          <a:bodyPr>
            <a:noAutofit/>
          </a:bodyPr>
          <a:lstStyle/>
          <a:p>
            <a:pPr>
              <a:defRPr sz="4350" b="1">
                <a:solidFill>
                  <a:srgbClr val="FFFFFF"/>
                </a:solidFill>
                <a:latin typeface="Arial"/>
                <a:ea typeface="Arial"/>
                <a:cs typeface="Arial"/>
              </a:defRPr>
            </a:pPr>
            <a:r>
              <a:rPr sz="4350" b="1">
                <a:solidFill>
                  <a:srgbClr val="FFFFFF"/>
                </a:solidFill>
                <a:latin typeface="Arial"/>
                <a:ea typeface="Arial"/>
                <a:cs typeface="Arial"/>
              </a:rPr>
              <a:t>AI Movie Recommendation</a:t>
            </a:r>
          </a:p>
          <a:p>
            <a:pPr>
              <a:defRPr sz="4350" b="1">
                <a:solidFill>
                  <a:srgbClr val="FFFFFF"/>
                </a:solidFill>
                <a:latin typeface="Arial"/>
                <a:ea typeface="Arial"/>
                <a:cs typeface="Arial"/>
              </a:defRPr>
            </a:pPr>
            <a:r>
              <a:rPr sz="4350" b="1">
                <a:solidFill>
                  <a:srgbClr val="FFFFFF"/>
                </a:solidFill>
                <a:latin typeface="Arial"/>
                <a:ea typeface="Arial"/>
                <a:cs typeface="Arial"/>
              </a:rPr>
              <a:t>Chat Bot</a:t>
            </a:r>
          </a:p>
        </p:txBody>
      </p:sp>
      <p:sp>
        <p:nvSpPr>
          <p:cNvPr id="2" name="矩形 1">
            <a:extLst>
              <a:ext uri="{FF2B5EF4-FFF2-40B4-BE49-F238E27FC236}">
                <a16:creationId xmlns:a16="http://schemas.microsoft.com/office/drawing/2014/main" id="{29ED99E6-B5AE-44B1-A4A2-1FB73E30283A}"/>
              </a:ext>
            </a:extLst>
          </p:cNvPr>
          <p:cNvSpPr>
            <a:spLocks noGrp="1"/>
          </p:cNvSpPr>
          <p:nvPr/>
        </p:nvSpPr>
        <p:spPr>
          <a:xfrm>
            <a:off x="704850" y="4095750"/>
            <a:ext cx="5619750" cy="1428750"/>
          </a:xfrm>
          <a:prstGeom prst="rect">
            <a:avLst/>
          </a:prstGeom>
          <a:noFill/>
          <a:ln w="0">
            <a:noFill/>
          </a:ln>
        </p:spPr>
        <p:txBody>
          <a:bodyPr>
            <a:noAutofit/>
          </a:bodyPr>
          <a:lstStyle/>
          <a:p>
            <a:pPr>
              <a:defRPr sz="2100" b="0">
                <a:solidFill>
                  <a:srgbClr val="BDE1E2"/>
                </a:solidFill>
                <a:latin typeface="Arial"/>
                <a:ea typeface="Arial"/>
                <a:cs typeface="Arial"/>
              </a:defRPr>
            </a:pPr>
            <a:r>
              <a:rPr sz="2100" b="0">
                <a:solidFill>
                  <a:srgbClr val="BDE1E2"/>
                </a:solidFill>
                <a:latin typeface="Arial"/>
                <a:ea typeface="Arial"/>
                <a:cs typeface="Arial"/>
              </a:rPr>
              <a:t>CS673 Software Engineering</a:t>
            </a:r>
          </a:p>
          <a:p>
            <a:pPr>
              <a:defRPr sz="2100" b="0">
                <a:solidFill>
                  <a:srgbClr val="BDE1E2"/>
                </a:solidFill>
                <a:latin typeface="Arial"/>
                <a:ea typeface="Arial"/>
                <a:cs typeface="Arial"/>
              </a:defRPr>
            </a:pPr>
            <a:r>
              <a:rPr sz="2100" b="0">
                <a:solidFill>
                  <a:srgbClr val="BDE1E2"/>
                </a:solidFill>
                <a:latin typeface="Arial"/>
                <a:ea typeface="Arial"/>
                <a:cs typeface="Arial"/>
              </a:rPr>
              <a:t>Team 1</a:t>
            </a:r>
          </a:p>
          <a:p>
            <a:pPr>
              <a:defRPr sz="2100" b="0">
                <a:solidFill>
                  <a:srgbClr val="BDE1E2"/>
                </a:solidFill>
                <a:latin typeface="Arial"/>
                <a:ea typeface="Arial"/>
                <a:cs typeface="Arial"/>
              </a:defRPr>
            </a:pPr>
            <a:r>
              <a:rPr sz="2100" b="0">
                <a:solidFill>
                  <a:srgbClr val="BDE1E2"/>
                </a:solidFill>
                <a:latin typeface="Arial"/>
                <a:ea typeface="Arial"/>
                <a:cs typeface="Arial"/>
              </a:rPr>
              <a:t>Iteration 0: Project Proposal and Planning</a:t>
            </a:r>
          </a:p>
        </p:txBody>
      </p:sp>
    </p:spTree>
    <p:extLst>
      <p:ext uri="{BB962C8B-B14F-4D97-AF65-F5344CB8AC3E}">
        <p14:creationId xmlns:p14="http://schemas.microsoft.com/office/powerpoint/2010/main" val="176227146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7F9FB"/>
        </a:solidFill>
        <a:effectLst/>
      </p:bgPr>
    </p:bg>
    <p:spTree>
      <p:nvGrpSpPr>
        <p:cNvPr id="1" name=""/>
        <p:cNvGrpSpPr/>
        <p:nvPr/>
      </p:nvGrpSpPr>
      <p:grpSpPr>
        <a:xfrm>
          <a:off x="0" y="0"/>
          <a:ext cx="0" cy="0"/>
          <a:chOff x="0" y="0"/>
          <a:chExt cx="0" cy="0"/>
        </a:xfrm>
      </p:grpSpPr>
      <p:sp>
        <p:nvSpPr>
          <p:cNvPr id="10" name="矩形 9">
            <a:extLst>
              <a:ext uri="{FF2B5EF4-FFF2-40B4-BE49-F238E27FC236}">
                <a16:creationId xmlns:a16="http://schemas.microsoft.com/office/drawing/2014/main" id="{EC04ACF8-CBC1-458E-836F-D52B62D391E7}"/>
              </a:ext>
            </a:extLst>
          </p:cNvPr>
          <p:cNvSpPr>
            <a:spLocks noGrp="1"/>
          </p:cNvSpPr>
          <p:nvPr/>
        </p:nvSpPr>
        <p:spPr>
          <a:xfrm>
            <a:off x="609600" y="476250"/>
            <a:ext cx="10953750" cy="1000125"/>
          </a:xfrm>
          <a:prstGeom prst="rect">
            <a:avLst/>
          </a:prstGeom>
          <a:noFill/>
          <a:ln w="0">
            <a:noFill/>
          </a:ln>
        </p:spPr>
        <p:txBody>
          <a:bodyPr>
            <a:noAutofit/>
          </a:bodyPr>
          <a:lstStyle/>
          <a:p>
            <a:pPr>
              <a:defRPr sz="3300" b="1">
                <a:solidFill>
                  <a:srgbClr val="0B283B"/>
                </a:solidFill>
                <a:latin typeface="Arial"/>
                <a:ea typeface="Arial"/>
                <a:cs typeface="Arial"/>
              </a:defRPr>
            </a:pPr>
            <a:r>
              <a:rPr sz="3300" b="1">
                <a:solidFill>
                  <a:srgbClr val="0B283B"/>
                </a:solidFill>
                <a:latin typeface="Arial"/>
                <a:ea typeface="Arial"/>
                <a:cs typeface="Arial"/>
              </a:rPr>
              <a:t>Core features and scope</a:t>
            </a:r>
          </a:p>
        </p:txBody>
      </p:sp>
      <p:sp>
        <p:nvSpPr>
          <p:cNvPr id="2" name="矩形 1">
            <a:extLst>
              <a:ext uri="{FF2B5EF4-FFF2-40B4-BE49-F238E27FC236}">
                <a16:creationId xmlns:a16="http://schemas.microsoft.com/office/drawing/2014/main" id="{54846281-A007-4F8D-A9F5-3D241AA221FB}"/>
              </a:ext>
            </a:extLst>
          </p:cNvPr>
          <p:cNvSpPr>
            <a:spLocks noGrp="1"/>
          </p:cNvSpPr>
          <p:nvPr/>
        </p:nvSpPr>
        <p:spPr>
          <a:xfrm>
            <a:off x="666750" y="1714500"/>
            <a:ext cx="4191000" cy="571500"/>
          </a:xfrm>
          <a:prstGeom prst="rect">
            <a:avLst/>
          </a:prstGeom>
          <a:noFill/>
          <a:ln w="0">
            <a:noFill/>
          </a:ln>
        </p:spPr>
        <p:txBody>
          <a:bodyPr>
            <a:noAutofit/>
          </a:bodyPr>
          <a:lstStyle/>
          <a:p>
            <a:pPr>
              <a:defRPr sz="2175" b="1">
                <a:solidFill>
                  <a:srgbClr val="007F87"/>
                </a:solidFill>
                <a:latin typeface="Arial"/>
                <a:ea typeface="Arial"/>
                <a:cs typeface="Arial"/>
              </a:defRPr>
            </a:pPr>
            <a:r>
              <a:rPr sz="2175" b="1">
                <a:solidFill>
                  <a:srgbClr val="007F87"/>
                </a:solidFill>
                <a:latin typeface="Arial"/>
                <a:ea typeface="Arial"/>
                <a:cs typeface="Arial"/>
              </a:rPr>
              <a:t>Essential</a:t>
            </a:r>
          </a:p>
        </p:txBody>
      </p:sp>
      <p:sp>
        <p:nvSpPr>
          <p:cNvPr id="3" name="矩形 2">
            <a:extLst>
              <a:ext uri="{FF2B5EF4-FFF2-40B4-BE49-F238E27FC236}">
                <a16:creationId xmlns:a16="http://schemas.microsoft.com/office/drawing/2014/main" id="{E60922C7-D4F6-4DFD-A9DD-1F3D305FF266}"/>
              </a:ext>
            </a:extLst>
          </p:cNvPr>
          <p:cNvSpPr>
            <a:spLocks noGrp="1"/>
          </p:cNvSpPr>
          <p:nvPr/>
        </p:nvSpPr>
        <p:spPr>
          <a:xfrm>
            <a:off x="5143500" y="1714500"/>
            <a:ext cx="6286500" cy="952500"/>
          </a:xfrm>
          <a:prstGeom prst="rect">
            <a:avLst/>
          </a:prstGeom>
          <a:noFill/>
          <a:ln w="0">
            <a:noFill/>
          </a:ln>
        </p:spPr>
        <p:txBody>
          <a:bodyPr>
            <a:noAutofit/>
          </a:bodyPr>
          <a:lstStyle/>
          <a:p>
            <a:pPr>
              <a:defRPr sz="2100" b="0">
                <a:solidFill>
                  <a:srgbClr val="24384A"/>
                </a:solidFill>
                <a:latin typeface="Arial"/>
                <a:ea typeface="Arial"/>
                <a:cs typeface="Arial"/>
              </a:defRPr>
            </a:pPr>
            <a:r>
              <a:rPr sz="2100" b="0">
                <a:solidFill>
                  <a:srgbClr val="24384A"/>
                </a:solidFill>
                <a:latin typeface="Arial"/>
                <a:ea typeface="Arial"/>
                <a:cs typeface="Arial"/>
              </a:rPr>
              <a:t>Natural language requests, a movie list, and visible recognized preferences</a:t>
            </a:r>
          </a:p>
        </p:txBody>
      </p:sp>
      <p:sp>
        <p:nvSpPr>
          <p:cNvPr id="4" name="矩形 3">
            <a:extLst>
              <a:ext uri="{FF2B5EF4-FFF2-40B4-BE49-F238E27FC236}">
                <a16:creationId xmlns:a16="http://schemas.microsoft.com/office/drawing/2014/main" id="{0DD8E3F4-2D02-4A03-A671-753AED6334BA}"/>
              </a:ext>
            </a:extLst>
          </p:cNvPr>
          <p:cNvSpPr>
            <a:spLocks noGrp="1"/>
          </p:cNvSpPr>
          <p:nvPr/>
        </p:nvSpPr>
        <p:spPr>
          <a:xfrm>
            <a:off x="666750" y="3019425"/>
            <a:ext cx="4191000" cy="571500"/>
          </a:xfrm>
          <a:prstGeom prst="rect">
            <a:avLst/>
          </a:prstGeom>
          <a:noFill/>
          <a:ln w="0">
            <a:noFill/>
          </a:ln>
        </p:spPr>
        <p:txBody>
          <a:bodyPr>
            <a:noAutofit/>
          </a:bodyPr>
          <a:lstStyle/>
          <a:p>
            <a:pPr>
              <a:defRPr sz="2175" b="1">
                <a:solidFill>
                  <a:srgbClr val="007F87"/>
                </a:solidFill>
                <a:latin typeface="Arial"/>
                <a:ea typeface="Arial"/>
                <a:cs typeface="Arial"/>
              </a:defRPr>
            </a:pPr>
            <a:r>
              <a:rPr sz="2175" b="1">
                <a:solidFill>
                  <a:srgbClr val="007F87"/>
                </a:solidFill>
                <a:latin typeface="Arial"/>
                <a:ea typeface="Arial"/>
                <a:cs typeface="Arial"/>
              </a:rPr>
              <a:t>Desirable</a:t>
            </a:r>
          </a:p>
        </p:txBody>
      </p:sp>
      <p:sp>
        <p:nvSpPr>
          <p:cNvPr id="5" name="矩形 4">
            <a:extLst>
              <a:ext uri="{FF2B5EF4-FFF2-40B4-BE49-F238E27FC236}">
                <a16:creationId xmlns:a16="http://schemas.microsoft.com/office/drawing/2014/main" id="{086F0904-C5F1-4207-A264-BE30850C9625}"/>
              </a:ext>
            </a:extLst>
          </p:cNvPr>
          <p:cNvSpPr>
            <a:spLocks noGrp="1"/>
          </p:cNvSpPr>
          <p:nvPr/>
        </p:nvSpPr>
        <p:spPr>
          <a:xfrm>
            <a:off x="5143500" y="3019425"/>
            <a:ext cx="6286500" cy="952500"/>
          </a:xfrm>
          <a:prstGeom prst="rect">
            <a:avLst/>
          </a:prstGeom>
          <a:noFill/>
          <a:ln w="0">
            <a:noFill/>
          </a:ln>
        </p:spPr>
        <p:txBody>
          <a:bodyPr>
            <a:noAutofit/>
          </a:bodyPr>
          <a:lstStyle/>
          <a:p>
            <a:pPr>
              <a:defRPr sz="2100" b="0">
                <a:solidFill>
                  <a:srgbClr val="24384A"/>
                </a:solidFill>
                <a:latin typeface="Arial"/>
                <a:ea typeface="Arial"/>
                <a:cs typeface="Arial"/>
              </a:defRPr>
            </a:pPr>
            <a:r>
              <a:rPr sz="2100" b="0">
                <a:solidFill>
                  <a:srgbClr val="24384A"/>
                </a:solidFill>
                <a:latin typeface="Arial"/>
                <a:ea typeface="Arial"/>
                <a:cs typeface="Arial"/>
              </a:rPr>
              <a:t>Movie details, follow-up refinement, and a personal watchlist</a:t>
            </a:r>
          </a:p>
        </p:txBody>
      </p:sp>
      <p:sp>
        <p:nvSpPr>
          <p:cNvPr id="6" name="矩形 5">
            <a:extLst>
              <a:ext uri="{FF2B5EF4-FFF2-40B4-BE49-F238E27FC236}">
                <a16:creationId xmlns:a16="http://schemas.microsoft.com/office/drawing/2014/main" id="{BB0E2C43-8D1C-42DE-AEA2-4C9B85B34DD6}"/>
              </a:ext>
            </a:extLst>
          </p:cNvPr>
          <p:cNvSpPr>
            <a:spLocks noGrp="1"/>
          </p:cNvSpPr>
          <p:nvPr/>
        </p:nvSpPr>
        <p:spPr>
          <a:xfrm>
            <a:off x="666750" y="4324350"/>
            <a:ext cx="4191000" cy="571500"/>
          </a:xfrm>
          <a:prstGeom prst="rect">
            <a:avLst/>
          </a:prstGeom>
          <a:noFill/>
          <a:ln w="0">
            <a:noFill/>
          </a:ln>
        </p:spPr>
        <p:txBody>
          <a:bodyPr>
            <a:noAutofit/>
          </a:bodyPr>
          <a:lstStyle/>
          <a:p>
            <a:pPr>
              <a:defRPr sz="2175" b="1">
                <a:solidFill>
                  <a:srgbClr val="007F87"/>
                </a:solidFill>
                <a:latin typeface="Arial"/>
                <a:ea typeface="Arial"/>
                <a:cs typeface="Arial"/>
              </a:defRPr>
            </a:pPr>
            <a:r>
              <a:rPr sz="2175" b="1" dirty="0">
                <a:solidFill>
                  <a:srgbClr val="007F87"/>
                </a:solidFill>
                <a:latin typeface="Arial"/>
                <a:ea typeface="Arial"/>
                <a:cs typeface="Arial"/>
              </a:rPr>
              <a:t>Optional</a:t>
            </a:r>
          </a:p>
        </p:txBody>
      </p:sp>
      <p:sp>
        <p:nvSpPr>
          <p:cNvPr id="7" name="矩形 6">
            <a:extLst>
              <a:ext uri="{FF2B5EF4-FFF2-40B4-BE49-F238E27FC236}">
                <a16:creationId xmlns:a16="http://schemas.microsoft.com/office/drawing/2014/main" id="{3C60D71E-C6FA-466D-86EB-50A66E14C9BD}"/>
              </a:ext>
            </a:extLst>
          </p:cNvPr>
          <p:cNvSpPr>
            <a:spLocks noGrp="1"/>
          </p:cNvSpPr>
          <p:nvPr/>
        </p:nvSpPr>
        <p:spPr>
          <a:xfrm>
            <a:off x="5143500" y="4324350"/>
            <a:ext cx="6286500" cy="952500"/>
          </a:xfrm>
          <a:prstGeom prst="rect">
            <a:avLst/>
          </a:prstGeom>
          <a:noFill/>
          <a:ln w="0">
            <a:noFill/>
          </a:ln>
        </p:spPr>
        <p:txBody>
          <a:bodyPr>
            <a:noAutofit/>
          </a:bodyPr>
          <a:lstStyle/>
          <a:p>
            <a:pPr>
              <a:defRPr sz="2100" b="0">
                <a:solidFill>
                  <a:srgbClr val="24384A"/>
                </a:solidFill>
                <a:latin typeface="Arial"/>
                <a:ea typeface="Arial"/>
                <a:cs typeface="Arial"/>
              </a:defRPr>
            </a:pPr>
            <a:r>
              <a:rPr sz="2100" b="0">
                <a:solidFill>
                  <a:srgbClr val="24384A"/>
                </a:solidFill>
                <a:latin typeface="Arial"/>
                <a:ea typeface="Arial"/>
                <a:cs typeface="Arial"/>
              </a:rPr>
              <a:t>Multiple languages, playback links, and platform information</a:t>
            </a:r>
          </a:p>
        </p:txBody>
      </p:sp>
      <p:sp>
        <p:nvSpPr>
          <p:cNvPr id="8" name="矩形 7">
            <a:extLst>
              <a:ext uri="{FF2B5EF4-FFF2-40B4-BE49-F238E27FC236}">
                <a16:creationId xmlns:a16="http://schemas.microsoft.com/office/drawing/2014/main" id="{3C98E386-DB29-41DD-B692-EF0DBCA7FD85}"/>
              </a:ext>
            </a:extLst>
          </p:cNvPr>
          <p:cNvSpPr>
            <a:spLocks noGrp="1"/>
          </p:cNvSpPr>
          <p:nvPr/>
        </p:nvSpPr>
        <p:spPr>
          <a:xfrm>
            <a:off x="666750" y="5953125"/>
            <a:ext cx="10668000" cy="523875"/>
          </a:xfrm>
          <a:prstGeom prst="rect">
            <a:avLst/>
          </a:prstGeom>
          <a:noFill/>
          <a:ln w="0">
            <a:noFill/>
          </a:ln>
        </p:spPr>
        <p:txBody>
          <a:bodyPr>
            <a:noAutofit/>
          </a:bodyPr>
          <a:lstStyle/>
          <a:p>
            <a:pPr>
              <a:defRPr sz="1800" b="0">
                <a:solidFill>
                  <a:srgbClr val="536574"/>
                </a:solidFill>
                <a:latin typeface="Arial"/>
                <a:ea typeface="Arial"/>
                <a:cs typeface="Arial"/>
              </a:defRPr>
            </a:pPr>
            <a:endParaRPr sz="1800" b="0" dirty="0">
              <a:solidFill>
                <a:srgbClr val="536574"/>
              </a:solidFill>
              <a:latin typeface="Arial"/>
              <a:ea typeface="Arial"/>
              <a:cs typeface="Arial"/>
            </a:endParaRPr>
          </a:p>
        </p:txBody>
      </p:sp>
      <p:sp>
        <p:nvSpPr>
          <p:cNvPr id="9" name="矩形 8">
            <a:extLst>
              <a:ext uri="{FF2B5EF4-FFF2-40B4-BE49-F238E27FC236}">
                <a16:creationId xmlns:a16="http://schemas.microsoft.com/office/drawing/2014/main" id="{BE3ADE04-B605-47C6-A722-DE6DCE88E102}"/>
              </a:ext>
            </a:extLst>
          </p:cNvPr>
          <p:cNvSpPr>
            <a:spLocks noGrp="1"/>
          </p:cNvSpPr>
          <p:nvPr/>
        </p:nvSpPr>
        <p:spPr>
          <a:xfrm>
            <a:off x="11334750" y="6457950"/>
            <a:ext cx="476250" cy="266700"/>
          </a:xfrm>
          <a:prstGeom prst="rect">
            <a:avLst/>
          </a:prstGeom>
          <a:noFill/>
          <a:ln w="0">
            <a:noFill/>
          </a:ln>
        </p:spPr>
        <p:txBody>
          <a:bodyPr>
            <a:noAutofit/>
          </a:bodyPr>
          <a:lstStyle/>
          <a:p>
            <a:pPr>
              <a:defRPr sz="1275" b="0">
                <a:solidFill>
                  <a:srgbClr val="6C7A86"/>
                </a:solidFill>
                <a:latin typeface="Arial"/>
                <a:ea typeface="Arial"/>
                <a:cs typeface="Arial"/>
              </a:defRPr>
            </a:pPr>
            <a:r>
              <a:rPr sz="1275" b="0">
                <a:solidFill>
                  <a:srgbClr val="6C7A86"/>
                </a:solidFill>
                <a:latin typeface="Arial"/>
                <a:ea typeface="Arial"/>
                <a:cs typeface="Arial"/>
              </a:rPr>
              <a:t>02</a:t>
            </a:r>
          </a:p>
        </p:txBody>
      </p:sp>
    </p:spTree>
    <p:extLst>
      <p:ext uri="{BB962C8B-B14F-4D97-AF65-F5344CB8AC3E}">
        <p14:creationId xmlns:p14="http://schemas.microsoft.com/office/powerpoint/2010/main" val="17742780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7F9FB"/>
        </a:solidFill>
        <a:effectLst/>
      </p:bgPr>
    </p:bg>
    <p:spTree>
      <p:nvGrpSpPr>
        <p:cNvPr id="1" name=""/>
        <p:cNvGrpSpPr/>
        <p:nvPr/>
      </p:nvGrpSpPr>
      <p:grpSpPr>
        <a:xfrm>
          <a:off x="0" y="0"/>
          <a:ext cx="0" cy="0"/>
          <a:chOff x="0" y="0"/>
          <a:chExt cx="0" cy="0"/>
        </a:xfrm>
      </p:grpSpPr>
      <p:sp>
        <p:nvSpPr>
          <p:cNvPr id="10" name="矩形 9">
            <a:extLst>
              <a:ext uri="{FF2B5EF4-FFF2-40B4-BE49-F238E27FC236}">
                <a16:creationId xmlns:a16="http://schemas.microsoft.com/office/drawing/2014/main" id="{C5CD8D14-2CF7-4441-887D-019B792E3684}"/>
              </a:ext>
            </a:extLst>
          </p:cNvPr>
          <p:cNvSpPr>
            <a:spLocks noGrp="1"/>
          </p:cNvSpPr>
          <p:nvPr/>
        </p:nvSpPr>
        <p:spPr>
          <a:xfrm>
            <a:off x="609600" y="476250"/>
            <a:ext cx="10953750" cy="1000125"/>
          </a:xfrm>
          <a:prstGeom prst="rect">
            <a:avLst/>
          </a:prstGeom>
          <a:noFill/>
          <a:ln w="0">
            <a:noFill/>
          </a:ln>
        </p:spPr>
        <p:txBody>
          <a:bodyPr>
            <a:noAutofit/>
          </a:bodyPr>
          <a:lstStyle/>
          <a:p>
            <a:pPr>
              <a:defRPr sz="3300" b="1">
                <a:solidFill>
                  <a:srgbClr val="0B283B"/>
                </a:solidFill>
                <a:latin typeface="Arial"/>
                <a:ea typeface="Arial"/>
                <a:cs typeface="Arial"/>
              </a:defRPr>
            </a:pPr>
            <a:r>
              <a:rPr sz="3300" b="1">
                <a:solidFill>
                  <a:srgbClr val="0B283B"/>
                </a:solidFill>
                <a:latin typeface="Arial"/>
                <a:ea typeface="Arial"/>
                <a:cs typeface="Arial"/>
              </a:rPr>
              <a:t>Proposed technology</a:t>
            </a:r>
          </a:p>
        </p:txBody>
      </p:sp>
      <p:sp>
        <p:nvSpPr>
          <p:cNvPr id="2" name="矩形 1">
            <a:extLst>
              <a:ext uri="{FF2B5EF4-FFF2-40B4-BE49-F238E27FC236}">
                <a16:creationId xmlns:a16="http://schemas.microsoft.com/office/drawing/2014/main" id="{31EA434F-270A-4F4C-B0BC-D9B669020AFB}"/>
              </a:ext>
            </a:extLst>
          </p:cNvPr>
          <p:cNvSpPr>
            <a:spLocks noGrp="1"/>
          </p:cNvSpPr>
          <p:nvPr/>
        </p:nvSpPr>
        <p:spPr>
          <a:xfrm>
            <a:off x="666750" y="1714500"/>
            <a:ext cx="4191000" cy="571500"/>
          </a:xfrm>
          <a:prstGeom prst="rect">
            <a:avLst/>
          </a:prstGeom>
          <a:noFill/>
          <a:ln w="0">
            <a:noFill/>
          </a:ln>
        </p:spPr>
        <p:txBody>
          <a:bodyPr>
            <a:noAutofit/>
          </a:bodyPr>
          <a:lstStyle/>
          <a:p>
            <a:pPr>
              <a:defRPr sz="2175" b="1">
                <a:solidFill>
                  <a:srgbClr val="007F87"/>
                </a:solidFill>
                <a:latin typeface="Arial"/>
                <a:ea typeface="Arial"/>
                <a:cs typeface="Arial"/>
              </a:defRPr>
            </a:pPr>
            <a:r>
              <a:rPr sz="2175" b="1">
                <a:solidFill>
                  <a:srgbClr val="007F87"/>
                </a:solidFill>
                <a:latin typeface="Arial"/>
                <a:ea typeface="Arial"/>
                <a:cs typeface="Arial"/>
              </a:rPr>
              <a:t>Web interface</a:t>
            </a:r>
          </a:p>
        </p:txBody>
      </p:sp>
      <p:sp>
        <p:nvSpPr>
          <p:cNvPr id="3" name="矩形 2">
            <a:extLst>
              <a:ext uri="{FF2B5EF4-FFF2-40B4-BE49-F238E27FC236}">
                <a16:creationId xmlns:a16="http://schemas.microsoft.com/office/drawing/2014/main" id="{DAD84F04-56CF-4102-874B-6EEEC58642CE}"/>
              </a:ext>
            </a:extLst>
          </p:cNvPr>
          <p:cNvSpPr>
            <a:spLocks noGrp="1"/>
          </p:cNvSpPr>
          <p:nvPr/>
        </p:nvSpPr>
        <p:spPr>
          <a:xfrm>
            <a:off x="5143500" y="1714500"/>
            <a:ext cx="6286500" cy="952500"/>
          </a:xfrm>
          <a:prstGeom prst="rect">
            <a:avLst/>
          </a:prstGeom>
          <a:noFill/>
          <a:ln w="0">
            <a:noFill/>
          </a:ln>
        </p:spPr>
        <p:txBody>
          <a:bodyPr>
            <a:noAutofit/>
          </a:bodyPr>
          <a:lstStyle/>
          <a:p>
            <a:pPr>
              <a:defRPr sz="2100" b="0">
                <a:solidFill>
                  <a:srgbClr val="24384A"/>
                </a:solidFill>
                <a:latin typeface="Arial"/>
                <a:ea typeface="Arial"/>
                <a:cs typeface="Arial"/>
              </a:defRPr>
            </a:pPr>
            <a:r>
              <a:rPr sz="2100" b="0">
                <a:solidFill>
                  <a:srgbClr val="24384A"/>
                </a:solidFill>
                <a:latin typeface="Arial"/>
                <a:ea typeface="Arial"/>
                <a:cs typeface="Arial"/>
              </a:rPr>
              <a:t>HTML/CSS/JavaScript or React for chat and movie results</a:t>
            </a:r>
          </a:p>
        </p:txBody>
      </p:sp>
      <p:sp>
        <p:nvSpPr>
          <p:cNvPr id="4" name="矩形 3">
            <a:extLst>
              <a:ext uri="{FF2B5EF4-FFF2-40B4-BE49-F238E27FC236}">
                <a16:creationId xmlns:a16="http://schemas.microsoft.com/office/drawing/2014/main" id="{0DC8F9D6-4A73-4E65-8526-2935ED64C6FA}"/>
              </a:ext>
            </a:extLst>
          </p:cNvPr>
          <p:cNvSpPr>
            <a:spLocks noGrp="1"/>
          </p:cNvSpPr>
          <p:nvPr/>
        </p:nvSpPr>
        <p:spPr>
          <a:xfrm>
            <a:off x="666750" y="3019425"/>
            <a:ext cx="4191000" cy="571500"/>
          </a:xfrm>
          <a:prstGeom prst="rect">
            <a:avLst/>
          </a:prstGeom>
          <a:noFill/>
          <a:ln w="0">
            <a:noFill/>
          </a:ln>
        </p:spPr>
        <p:txBody>
          <a:bodyPr>
            <a:noAutofit/>
          </a:bodyPr>
          <a:lstStyle/>
          <a:p>
            <a:pPr>
              <a:defRPr sz="2175" b="1">
                <a:solidFill>
                  <a:srgbClr val="007F87"/>
                </a:solidFill>
                <a:latin typeface="Arial"/>
                <a:ea typeface="Arial"/>
                <a:cs typeface="Arial"/>
              </a:defRPr>
            </a:pPr>
            <a:r>
              <a:rPr sz="2175" b="1">
                <a:solidFill>
                  <a:srgbClr val="007F87"/>
                </a:solidFill>
                <a:latin typeface="Arial"/>
                <a:ea typeface="Arial"/>
                <a:cs typeface="Arial"/>
              </a:rPr>
              <a:t>Backend</a:t>
            </a:r>
          </a:p>
        </p:txBody>
      </p:sp>
      <p:sp>
        <p:nvSpPr>
          <p:cNvPr id="5" name="矩形 4">
            <a:extLst>
              <a:ext uri="{FF2B5EF4-FFF2-40B4-BE49-F238E27FC236}">
                <a16:creationId xmlns:a16="http://schemas.microsoft.com/office/drawing/2014/main" id="{5D4126AB-D6ED-40BB-8CDE-FCF1E4D5CE16}"/>
              </a:ext>
            </a:extLst>
          </p:cNvPr>
          <p:cNvSpPr>
            <a:spLocks noGrp="1"/>
          </p:cNvSpPr>
          <p:nvPr/>
        </p:nvSpPr>
        <p:spPr>
          <a:xfrm>
            <a:off x="5143500" y="3019425"/>
            <a:ext cx="6286500" cy="952500"/>
          </a:xfrm>
          <a:prstGeom prst="rect">
            <a:avLst/>
          </a:prstGeom>
          <a:noFill/>
          <a:ln w="0">
            <a:noFill/>
          </a:ln>
        </p:spPr>
        <p:txBody>
          <a:bodyPr>
            <a:noAutofit/>
          </a:bodyPr>
          <a:lstStyle/>
          <a:p>
            <a:pPr>
              <a:defRPr sz="2100" b="0">
                <a:solidFill>
                  <a:srgbClr val="24384A"/>
                </a:solidFill>
                <a:latin typeface="Arial"/>
                <a:ea typeface="Arial"/>
                <a:cs typeface="Arial"/>
              </a:defRPr>
            </a:pPr>
            <a:r>
              <a:rPr sz="2100" b="0">
                <a:solidFill>
                  <a:srgbClr val="24384A"/>
                </a:solidFill>
                <a:latin typeface="Arial"/>
                <a:ea typeface="Arial"/>
                <a:cs typeface="Arial"/>
              </a:rPr>
              <a:t>Python or Java to process requests and coordinate services</a:t>
            </a:r>
          </a:p>
        </p:txBody>
      </p:sp>
      <p:sp>
        <p:nvSpPr>
          <p:cNvPr id="6" name="矩形 5">
            <a:extLst>
              <a:ext uri="{FF2B5EF4-FFF2-40B4-BE49-F238E27FC236}">
                <a16:creationId xmlns:a16="http://schemas.microsoft.com/office/drawing/2014/main" id="{5A17B301-1E80-4592-B755-7C8B65AE7B7A}"/>
              </a:ext>
            </a:extLst>
          </p:cNvPr>
          <p:cNvSpPr>
            <a:spLocks noGrp="1"/>
          </p:cNvSpPr>
          <p:nvPr/>
        </p:nvSpPr>
        <p:spPr>
          <a:xfrm>
            <a:off x="666750" y="4324350"/>
            <a:ext cx="4191000" cy="571500"/>
          </a:xfrm>
          <a:prstGeom prst="rect">
            <a:avLst/>
          </a:prstGeom>
          <a:noFill/>
          <a:ln w="0">
            <a:noFill/>
          </a:ln>
        </p:spPr>
        <p:txBody>
          <a:bodyPr>
            <a:noAutofit/>
          </a:bodyPr>
          <a:lstStyle/>
          <a:p>
            <a:pPr>
              <a:defRPr sz="2175" b="1">
                <a:solidFill>
                  <a:srgbClr val="007F87"/>
                </a:solidFill>
                <a:latin typeface="Arial"/>
                <a:ea typeface="Arial"/>
                <a:cs typeface="Arial"/>
              </a:defRPr>
            </a:pPr>
            <a:r>
              <a:rPr sz="2175" b="1">
                <a:solidFill>
                  <a:srgbClr val="007F87"/>
                </a:solidFill>
                <a:latin typeface="Arial"/>
                <a:ea typeface="Arial"/>
                <a:cs typeface="Arial"/>
              </a:rPr>
              <a:t>External services</a:t>
            </a:r>
          </a:p>
        </p:txBody>
      </p:sp>
      <p:sp>
        <p:nvSpPr>
          <p:cNvPr id="7" name="矩形 6">
            <a:extLst>
              <a:ext uri="{FF2B5EF4-FFF2-40B4-BE49-F238E27FC236}">
                <a16:creationId xmlns:a16="http://schemas.microsoft.com/office/drawing/2014/main" id="{53CBC55D-60E2-4CF2-87CF-10B8293C94FD}"/>
              </a:ext>
            </a:extLst>
          </p:cNvPr>
          <p:cNvSpPr>
            <a:spLocks noGrp="1"/>
          </p:cNvSpPr>
          <p:nvPr/>
        </p:nvSpPr>
        <p:spPr>
          <a:xfrm>
            <a:off x="5143500" y="4324350"/>
            <a:ext cx="6286500" cy="952500"/>
          </a:xfrm>
          <a:prstGeom prst="rect">
            <a:avLst/>
          </a:prstGeom>
          <a:noFill/>
          <a:ln w="0">
            <a:noFill/>
          </a:ln>
        </p:spPr>
        <p:txBody>
          <a:bodyPr>
            <a:noAutofit/>
          </a:bodyPr>
          <a:lstStyle/>
          <a:p>
            <a:pPr>
              <a:defRPr sz="2100" b="0">
                <a:solidFill>
                  <a:srgbClr val="24384A"/>
                </a:solidFill>
                <a:latin typeface="Arial"/>
                <a:ea typeface="Arial"/>
                <a:cs typeface="Arial"/>
              </a:defRPr>
            </a:pPr>
            <a:r>
              <a:rPr sz="2100" b="0">
                <a:solidFill>
                  <a:srgbClr val="24384A"/>
                </a:solidFill>
                <a:latin typeface="Arial"/>
                <a:ea typeface="Arial"/>
                <a:cs typeface="Arial"/>
              </a:rPr>
              <a:t>Movie database API for information and AI API for request interpretation</a:t>
            </a:r>
          </a:p>
        </p:txBody>
      </p:sp>
      <p:sp>
        <p:nvSpPr>
          <p:cNvPr id="8" name="矩形 7">
            <a:extLst>
              <a:ext uri="{FF2B5EF4-FFF2-40B4-BE49-F238E27FC236}">
                <a16:creationId xmlns:a16="http://schemas.microsoft.com/office/drawing/2014/main" id="{E835B227-D964-4E9A-84E9-0C2AC0ADD368}"/>
              </a:ext>
            </a:extLst>
          </p:cNvPr>
          <p:cNvSpPr>
            <a:spLocks noGrp="1"/>
          </p:cNvSpPr>
          <p:nvPr/>
        </p:nvSpPr>
        <p:spPr>
          <a:xfrm>
            <a:off x="666750" y="5953125"/>
            <a:ext cx="10668000" cy="523875"/>
          </a:xfrm>
          <a:prstGeom prst="rect">
            <a:avLst/>
          </a:prstGeom>
          <a:noFill/>
          <a:ln w="0">
            <a:noFill/>
          </a:ln>
        </p:spPr>
        <p:txBody>
          <a:bodyPr>
            <a:noAutofit/>
          </a:bodyPr>
          <a:lstStyle/>
          <a:p>
            <a:pPr>
              <a:defRPr sz="1800" b="0">
                <a:solidFill>
                  <a:srgbClr val="536574"/>
                </a:solidFill>
                <a:latin typeface="Arial"/>
                <a:ea typeface="Arial"/>
                <a:cs typeface="Arial"/>
              </a:defRPr>
            </a:pPr>
            <a:endParaRPr sz="1800" b="0" dirty="0">
              <a:solidFill>
                <a:srgbClr val="536574"/>
              </a:solidFill>
              <a:latin typeface="Arial"/>
              <a:ea typeface="Arial"/>
              <a:cs typeface="Arial"/>
            </a:endParaRPr>
          </a:p>
        </p:txBody>
      </p:sp>
      <p:sp>
        <p:nvSpPr>
          <p:cNvPr id="9" name="矩形 8">
            <a:extLst>
              <a:ext uri="{FF2B5EF4-FFF2-40B4-BE49-F238E27FC236}">
                <a16:creationId xmlns:a16="http://schemas.microsoft.com/office/drawing/2014/main" id="{0FBF01C1-F6C2-46BA-90F9-30A1F2789336}"/>
              </a:ext>
            </a:extLst>
          </p:cNvPr>
          <p:cNvSpPr>
            <a:spLocks noGrp="1"/>
          </p:cNvSpPr>
          <p:nvPr/>
        </p:nvSpPr>
        <p:spPr>
          <a:xfrm>
            <a:off x="11334750" y="6457950"/>
            <a:ext cx="476250" cy="266700"/>
          </a:xfrm>
          <a:prstGeom prst="rect">
            <a:avLst/>
          </a:prstGeom>
          <a:noFill/>
          <a:ln w="0">
            <a:noFill/>
          </a:ln>
        </p:spPr>
        <p:txBody>
          <a:bodyPr>
            <a:noAutofit/>
          </a:bodyPr>
          <a:lstStyle/>
          <a:p>
            <a:pPr>
              <a:defRPr sz="1275" b="0">
                <a:solidFill>
                  <a:srgbClr val="6C7A86"/>
                </a:solidFill>
                <a:latin typeface="Arial"/>
                <a:ea typeface="Arial"/>
                <a:cs typeface="Arial"/>
              </a:defRPr>
            </a:pPr>
            <a:r>
              <a:rPr sz="1275" b="0">
                <a:solidFill>
                  <a:srgbClr val="6C7A86"/>
                </a:solidFill>
                <a:latin typeface="Arial"/>
                <a:ea typeface="Arial"/>
                <a:cs typeface="Arial"/>
              </a:rPr>
              <a:t>03</a:t>
            </a:r>
          </a:p>
        </p:txBody>
      </p:sp>
    </p:spTree>
    <p:extLst>
      <p:ext uri="{BB962C8B-B14F-4D97-AF65-F5344CB8AC3E}">
        <p14:creationId xmlns:p14="http://schemas.microsoft.com/office/powerpoint/2010/main" val="183235324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7F9FB"/>
        </a:solidFill>
        <a:effectLst/>
      </p:bgPr>
    </p:bg>
    <p:spTree>
      <p:nvGrpSpPr>
        <p:cNvPr id="1" name=""/>
        <p:cNvGrpSpPr/>
        <p:nvPr/>
      </p:nvGrpSpPr>
      <p:grpSpPr>
        <a:xfrm>
          <a:off x="0" y="0"/>
          <a:ext cx="0" cy="0"/>
          <a:chOff x="0" y="0"/>
          <a:chExt cx="0" cy="0"/>
        </a:xfrm>
      </p:grpSpPr>
      <p:sp>
        <p:nvSpPr>
          <p:cNvPr id="10" name="矩形 9">
            <a:extLst>
              <a:ext uri="{FF2B5EF4-FFF2-40B4-BE49-F238E27FC236}">
                <a16:creationId xmlns:a16="http://schemas.microsoft.com/office/drawing/2014/main" id="{B0623146-F8BC-44C6-8387-128E306E8746}"/>
              </a:ext>
            </a:extLst>
          </p:cNvPr>
          <p:cNvSpPr>
            <a:spLocks noGrp="1"/>
          </p:cNvSpPr>
          <p:nvPr/>
        </p:nvSpPr>
        <p:spPr>
          <a:xfrm>
            <a:off x="609600" y="476250"/>
            <a:ext cx="10953750" cy="1000125"/>
          </a:xfrm>
          <a:prstGeom prst="rect">
            <a:avLst/>
          </a:prstGeom>
          <a:noFill/>
          <a:ln w="0">
            <a:noFill/>
          </a:ln>
        </p:spPr>
        <p:txBody>
          <a:bodyPr>
            <a:noAutofit/>
          </a:bodyPr>
          <a:lstStyle/>
          <a:p>
            <a:pPr>
              <a:defRPr sz="3300" b="1">
                <a:solidFill>
                  <a:srgbClr val="0B283B"/>
                </a:solidFill>
                <a:latin typeface="Arial"/>
                <a:ea typeface="Arial"/>
                <a:cs typeface="Arial"/>
              </a:defRPr>
            </a:pPr>
            <a:r>
              <a:rPr sz="3300" b="1">
                <a:solidFill>
                  <a:srgbClr val="0B283B"/>
                </a:solidFill>
                <a:latin typeface="Arial"/>
                <a:ea typeface="Arial"/>
                <a:cs typeface="Arial"/>
              </a:rPr>
              <a:t>Three-iteration development plan</a:t>
            </a:r>
          </a:p>
        </p:txBody>
      </p:sp>
      <p:sp>
        <p:nvSpPr>
          <p:cNvPr id="2" name="矩形 1">
            <a:extLst>
              <a:ext uri="{FF2B5EF4-FFF2-40B4-BE49-F238E27FC236}">
                <a16:creationId xmlns:a16="http://schemas.microsoft.com/office/drawing/2014/main" id="{582A5316-0109-4FB7-9DA4-01D86A839027}"/>
              </a:ext>
            </a:extLst>
          </p:cNvPr>
          <p:cNvSpPr>
            <a:spLocks noGrp="1"/>
          </p:cNvSpPr>
          <p:nvPr/>
        </p:nvSpPr>
        <p:spPr>
          <a:xfrm>
            <a:off x="666750" y="1714500"/>
            <a:ext cx="4191000" cy="571500"/>
          </a:xfrm>
          <a:prstGeom prst="rect">
            <a:avLst/>
          </a:prstGeom>
          <a:noFill/>
          <a:ln w="0">
            <a:noFill/>
          </a:ln>
        </p:spPr>
        <p:txBody>
          <a:bodyPr>
            <a:noAutofit/>
          </a:bodyPr>
          <a:lstStyle/>
          <a:p>
            <a:pPr>
              <a:defRPr sz="2175" b="1">
                <a:solidFill>
                  <a:srgbClr val="007F87"/>
                </a:solidFill>
                <a:latin typeface="Arial"/>
                <a:ea typeface="Arial"/>
                <a:cs typeface="Arial"/>
              </a:defRPr>
            </a:pPr>
            <a:r>
              <a:rPr sz="2175" b="1">
                <a:solidFill>
                  <a:srgbClr val="007F87"/>
                </a:solidFill>
                <a:latin typeface="Arial"/>
                <a:ea typeface="Arial"/>
                <a:cs typeface="Arial"/>
              </a:rPr>
              <a:t>Iteration 1   25–35 person-hours</a:t>
            </a:r>
          </a:p>
        </p:txBody>
      </p:sp>
      <p:sp>
        <p:nvSpPr>
          <p:cNvPr id="3" name="矩形 2">
            <a:extLst>
              <a:ext uri="{FF2B5EF4-FFF2-40B4-BE49-F238E27FC236}">
                <a16:creationId xmlns:a16="http://schemas.microsoft.com/office/drawing/2014/main" id="{4CBF084D-C5A9-4ABB-890E-7A274FD23BE2}"/>
              </a:ext>
            </a:extLst>
          </p:cNvPr>
          <p:cNvSpPr>
            <a:spLocks noGrp="1"/>
          </p:cNvSpPr>
          <p:nvPr/>
        </p:nvSpPr>
        <p:spPr>
          <a:xfrm>
            <a:off x="5143500" y="1714500"/>
            <a:ext cx="6286500" cy="952500"/>
          </a:xfrm>
          <a:prstGeom prst="rect">
            <a:avLst/>
          </a:prstGeom>
          <a:noFill/>
          <a:ln w="0">
            <a:noFill/>
          </a:ln>
        </p:spPr>
        <p:txBody>
          <a:bodyPr>
            <a:noAutofit/>
          </a:bodyPr>
          <a:lstStyle/>
          <a:p>
            <a:pPr>
              <a:defRPr sz="2100" b="0">
                <a:solidFill>
                  <a:srgbClr val="24384A"/>
                </a:solidFill>
                <a:latin typeface="Arial"/>
                <a:ea typeface="Arial"/>
                <a:cs typeface="Arial"/>
              </a:defRPr>
            </a:pPr>
            <a:r>
              <a:rPr sz="2100" b="0">
                <a:solidFill>
                  <a:srgbClr val="24384A"/>
                </a:solidFill>
                <a:latin typeface="Arial"/>
                <a:ea typeface="Arial"/>
                <a:cs typeface="Arial"/>
              </a:rPr>
              <a:t>Environment setup, basic UI, movie API, and basic chatbot</a:t>
            </a:r>
          </a:p>
        </p:txBody>
      </p:sp>
      <p:sp>
        <p:nvSpPr>
          <p:cNvPr id="4" name="矩形 3">
            <a:extLst>
              <a:ext uri="{FF2B5EF4-FFF2-40B4-BE49-F238E27FC236}">
                <a16:creationId xmlns:a16="http://schemas.microsoft.com/office/drawing/2014/main" id="{15605C42-07C8-46A1-BB92-4ED38B9273DA}"/>
              </a:ext>
            </a:extLst>
          </p:cNvPr>
          <p:cNvSpPr>
            <a:spLocks noGrp="1"/>
          </p:cNvSpPr>
          <p:nvPr/>
        </p:nvSpPr>
        <p:spPr>
          <a:xfrm>
            <a:off x="666750" y="3019425"/>
            <a:ext cx="4191000" cy="571500"/>
          </a:xfrm>
          <a:prstGeom prst="rect">
            <a:avLst/>
          </a:prstGeom>
          <a:noFill/>
          <a:ln w="0">
            <a:noFill/>
          </a:ln>
        </p:spPr>
        <p:txBody>
          <a:bodyPr>
            <a:noAutofit/>
          </a:bodyPr>
          <a:lstStyle/>
          <a:p>
            <a:pPr>
              <a:defRPr sz="2175" b="1">
                <a:solidFill>
                  <a:srgbClr val="007F87"/>
                </a:solidFill>
                <a:latin typeface="Arial"/>
                <a:ea typeface="Arial"/>
                <a:cs typeface="Arial"/>
              </a:defRPr>
            </a:pPr>
            <a:r>
              <a:rPr sz="2175" b="1">
                <a:solidFill>
                  <a:srgbClr val="007F87"/>
                </a:solidFill>
                <a:latin typeface="Arial"/>
                <a:ea typeface="Arial"/>
                <a:cs typeface="Arial"/>
              </a:rPr>
              <a:t>Iteration 2   30–40 person-hours</a:t>
            </a:r>
          </a:p>
        </p:txBody>
      </p:sp>
      <p:sp>
        <p:nvSpPr>
          <p:cNvPr id="5" name="矩形 4">
            <a:extLst>
              <a:ext uri="{FF2B5EF4-FFF2-40B4-BE49-F238E27FC236}">
                <a16:creationId xmlns:a16="http://schemas.microsoft.com/office/drawing/2014/main" id="{C119FC32-4EBB-46F3-A809-A66AA47E5FDD}"/>
              </a:ext>
            </a:extLst>
          </p:cNvPr>
          <p:cNvSpPr>
            <a:spLocks noGrp="1"/>
          </p:cNvSpPr>
          <p:nvPr/>
        </p:nvSpPr>
        <p:spPr>
          <a:xfrm>
            <a:off x="5143500" y="3019425"/>
            <a:ext cx="6286500" cy="952500"/>
          </a:xfrm>
          <a:prstGeom prst="rect">
            <a:avLst/>
          </a:prstGeom>
          <a:noFill/>
          <a:ln w="0">
            <a:noFill/>
          </a:ln>
        </p:spPr>
        <p:txBody>
          <a:bodyPr>
            <a:noAutofit/>
          </a:bodyPr>
          <a:lstStyle/>
          <a:p>
            <a:pPr>
              <a:defRPr sz="2100" b="0">
                <a:solidFill>
                  <a:srgbClr val="24384A"/>
                </a:solidFill>
                <a:latin typeface="Arial"/>
                <a:ea typeface="Arial"/>
                <a:cs typeface="Arial"/>
              </a:defRPr>
            </a:pPr>
            <a:r>
              <a:rPr sz="2100" b="0">
                <a:solidFill>
                  <a:srgbClr val="24384A"/>
                </a:solidFill>
                <a:latin typeface="Arial"/>
                <a:ea typeface="Arial"/>
                <a:cs typeface="Arial"/>
              </a:rPr>
              <a:t>Database, frontend/backend integration, filters, and recommendation logic</a:t>
            </a:r>
          </a:p>
        </p:txBody>
      </p:sp>
      <p:sp>
        <p:nvSpPr>
          <p:cNvPr id="6" name="矩形 5">
            <a:extLst>
              <a:ext uri="{FF2B5EF4-FFF2-40B4-BE49-F238E27FC236}">
                <a16:creationId xmlns:a16="http://schemas.microsoft.com/office/drawing/2014/main" id="{BC104C4B-54CA-426D-A396-BE8E2A531BA4}"/>
              </a:ext>
            </a:extLst>
          </p:cNvPr>
          <p:cNvSpPr>
            <a:spLocks noGrp="1"/>
          </p:cNvSpPr>
          <p:nvPr/>
        </p:nvSpPr>
        <p:spPr>
          <a:xfrm>
            <a:off x="666750" y="4324350"/>
            <a:ext cx="4191000" cy="571500"/>
          </a:xfrm>
          <a:prstGeom prst="rect">
            <a:avLst/>
          </a:prstGeom>
          <a:noFill/>
          <a:ln w="0">
            <a:noFill/>
          </a:ln>
        </p:spPr>
        <p:txBody>
          <a:bodyPr>
            <a:noAutofit/>
          </a:bodyPr>
          <a:lstStyle/>
          <a:p>
            <a:pPr>
              <a:defRPr sz="2175" b="1">
                <a:solidFill>
                  <a:srgbClr val="007F87"/>
                </a:solidFill>
                <a:latin typeface="Arial"/>
                <a:ea typeface="Arial"/>
                <a:cs typeface="Arial"/>
              </a:defRPr>
            </a:pPr>
            <a:r>
              <a:rPr sz="2175" b="1">
                <a:solidFill>
                  <a:srgbClr val="007F87"/>
                </a:solidFill>
                <a:latin typeface="Arial"/>
                <a:ea typeface="Arial"/>
                <a:cs typeface="Arial"/>
              </a:rPr>
              <a:t>Iteration 3   20–25 person-hours</a:t>
            </a:r>
          </a:p>
        </p:txBody>
      </p:sp>
      <p:sp>
        <p:nvSpPr>
          <p:cNvPr id="7" name="矩形 6">
            <a:extLst>
              <a:ext uri="{FF2B5EF4-FFF2-40B4-BE49-F238E27FC236}">
                <a16:creationId xmlns:a16="http://schemas.microsoft.com/office/drawing/2014/main" id="{EB697928-247E-4609-833C-95C5963BF442}"/>
              </a:ext>
            </a:extLst>
          </p:cNvPr>
          <p:cNvSpPr>
            <a:spLocks noGrp="1"/>
          </p:cNvSpPr>
          <p:nvPr/>
        </p:nvSpPr>
        <p:spPr>
          <a:xfrm>
            <a:off x="5143500" y="4324350"/>
            <a:ext cx="6286500" cy="952500"/>
          </a:xfrm>
          <a:prstGeom prst="rect">
            <a:avLst/>
          </a:prstGeom>
          <a:noFill/>
          <a:ln w="0">
            <a:noFill/>
          </a:ln>
        </p:spPr>
        <p:txBody>
          <a:bodyPr>
            <a:noAutofit/>
          </a:bodyPr>
          <a:lstStyle/>
          <a:p>
            <a:pPr>
              <a:defRPr sz="2100" b="0">
                <a:solidFill>
                  <a:srgbClr val="24384A"/>
                </a:solidFill>
                <a:latin typeface="Arial"/>
                <a:ea typeface="Arial"/>
                <a:cs typeface="Arial"/>
              </a:defRPr>
            </a:pPr>
            <a:r>
              <a:rPr sz="2100" b="0">
                <a:solidFill>
                  <a:srgbClr val="24384A"/>
                </a:solidFill>
                <a:latin typeface="Arial"/>
                <a:ea typeface="Arial"/>
                <a:cs typeface="Arial"/>
              </a:rPr>
              <a:t>Refinement, history/feedback, security review, testing, and deployment</a:t>
            </a:r>
          </a:p>
        </p:txBody>
      </p:sp>
      <p:sp>
        <p:nvSpPr>
          <p:cNvPr id="8" name="矩形 7">
            <a:extLst>
              <a:ext uri="{FF2B5EF4-FFF2-40B4-BE49-F238E27FC236}">
                <a16:creationId xmlns:a16="http://schemas.microsoft.com/office/drawing/2014/main" id="{53FE7411-4E56-4A50-8D9E-E6E80CC10212}"/>
              </a:ext>
            </a:extLst>
          </p:cNvPr>
          <p:cNvSpPr>
            <a:spLocks noGrp="1"/>
          </p:cNvSpPr>
          <p:nvPr/>
        </p:nvSpPr>
        <p:spPr>
          <a:xfrm>
            <a:off x="666750" y="5953125"/>
            <a:ext cx="10668000" cy="523875"/>
          </a:xfrm>
          <a:prstGeom prst="rect">
            <a:avLst/>
          </a:prstGeom>
          <a:noFill/>
          <a:ln w="0">
            <a:noFill/>
          </a:ln>
        </p:spPr>
        <p:txBody>
          <a:bodyPr>
            <a:noAutofit/>
          </a:bodyPr>
          <a:lstStyle/>
          <a:p>
            <a:pPr>
              <a:defRPr sz="1800" b="0">
                <a:solidFill>
                  <a:srgbClr val="536574"/>
                </a:solidFill>
                <a:latin typeface="Arial"/>
                <a:ea typeface="Arial"/>
                <a:cs typeface="Arial"/>
              </a:defRPr>
            </a:pPr>
            <a:endParaRPr sz="1800" b="0" dirty="0">
              <a:solidFill>
                <a:srgbClr val="536574"/>
              </a:solidFill>
              <a:latin typeface="Arial"/>
              <a:ea typeface="Arial"/>
              <a:cs typeface="Arial"/>
            </a:endParaRPr>
          </a:p>
        </p:txBody>
      </p:sp>
      <p:sp>
        <p:nvSpPr>
          <p:cNvPr id="9" name="矩形 8">
            <a:extLst>
              <a:ext uri="{FF2B5EF4-FFF2-40B4-BE49-F238E27FC236}">
                <a16:creationId xmlns:a16="http://schemas.microsoft.com/office/drawing/2014/main" id="{23BB3C62-E4F6-4935-9590-82AED772CD05}"/>
              </a:ext>
            </a:extLst>
          </p:cNvPr>
          <p:cNvSpPr>
            <a:spLocks noGrp="1"/>
          </p:cNvSpPr>
          <p:nvPr/>
        </p:nvSpPr>
        <p:spPr>
          <a:xfrm>
            <a:off x="11334750" y="6457950"/>
            <a:ext cx="476250" cy="266700"/>
          </a:xfrm>
          <a:prstGeom prst="rect">
            <a:avLst/>
          </a:prstGeom>
          <a:noFill/>
          <a:ln w="0">
            <a:noFill/>
          </a:ln>
        </p:spPr>
        <p:txBody>
          <a:bodyPr>
            <a:noAutofit/>
          </a:bodyPr>
          <a:lstStyle/>
          <a:p>
            <a:pPr>
              <a:defRPr sz="1275" b="0">
                <a:solidFill>
                  <a:srgbClr val="6C7A86"/>
                </a:solidFill>
                <a:latin typeface="Arial"/>
                <a:ea typeface="Arial"/>
                <a:cs typeface="Arial"/>
              </a:defRPr>
            </a:pPr>
            <a:r>
              <a:rPr sz="1275" b="0">
                <a:solidFill>
                  <a:srgbClr val="6C7A86"/>
                </a:solidFill>
                <a:latin typeface="Arial"/>
                <a:ea typeface="Arial"/>
                <a:cs typeface="Arial"/>
              </a:rPr>
              <a:t>04</a:t>
            </a:r>
          </a:p>
        </p:txBody>
      </p:sp>
    </p:spTree>
    <p:extLst>
      <p:ext uri="{BB962C8B-B14F-4D97-AF65-F5344CB8AC3E}">
        <p14:creationId xmlns:p14="http://schemas.microsoft.com/office/powerpoint/2010/main" val="1125655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7F9FB"/>
        </a:solidFill>
        <a:effectLst/>
      </p:bgPr>
    </p:bg>
    <p:spTree>
      <p:nvGrpSpPr>
        <p:cNvPr id="1" name=""/>
        <p:cNvGrpSpPr/>
        <p:nvPr/>
      </p:nvGrpSpPr>
      <p:grpSpPr>
        <a:xfrm>
          <a:off x="0" y="0"/>
          <a:ext cx="0" cy="0"/>
          <a:chOff x="0" y="0"/>
          <a:chExt cx="0" cy="0"/>
        </a:xfrm>
      </p:grpSpPr>
      <p:sp>
        <p:nvSpPr>
          <p:cNvPr id="8" name="矩形 7">
            <a:extLst>
              <a:ext uri="{FF2B5EF4-FFF2-40B4-BE49-F238E27FC236}">
                <a16:creationId xmlns:a16="http://schemas.microsoft.com/office/drawing/2014/main" id="{CAC010B1-AFBF-4FCB-AED5-F7CF80B57CB7}"/>
              </a:ext>
            </a:extLst>
          </p:cNvPr>
          <p:cNvSpPr>
            <a:spLocks noGrp="1"/>
          </p:cNvSpPr>
          <p:nvPr/>
        </p:nvSpPr>
        <p:spPr>
          <a:xfrm>
            <a:off x="609600" y="476250"/>
            <a:ext cx="10953750" cy="1000125"/>
          </a:xfrm>
          <a:prstGeom prst="rect">
            <a:avLst/>
          </a:prstGeom>
          <a:noFill/>
          <a:ln w="0">
            <a:noFill/>
          </a:ln>
        </p:spPr>
        <p:txBody>
          <a:bodyPr>
            <a:noAutofit/>
          </a:bodyPr>
          <a:lstStyle/>
          <a:p>
            <a:pPr>
              <a:defRPr sz="3300" b="1">
                <a:solidFill>
                  <a:srgbClr val="0B283B"/>
                </a:solidFill>
                <a:latin typeface="Arial"/>
                <a:ea typeface="Arial"/>
                <a:cs typeface="Arial"/>
              </a:defRPr>
            </a:pPr>
            <a:r>
              <a:rPr sz="3300" b="1">
                <a:solidFill>
                  <a:srgbClr val="0B283B"/>
                </a:solidFill>
                <a:latin typeface="Arial"/>
                <a:ea typeface="Arial"/>
                <a:cs typeface="Arial"/>
              </a:rPr>
              <a:t>Example user interaction</a:t>
            </a:r>
          </a:p>
        </p:txBody>
      </p:sp>
      <p:sp>
        <p:nvSpPr>
          <p:cNvPr id="2" name="矩形 1">
            <a:extLst>
              <a:ext uri="{FF2B5EF4-FFF2-40B4-BE49-F238E27FC236}">
                <a16:creationId xmlns:a16="http://schemas.microsoft.com/office/drawing/2014/main" id="{B91B027C-1DE4-44A8-A319-4999925AA249}"/>
              </a:ext>
            </a:extLst>
          </p:cNvPr>
          <p:cNvSpPr>
            <a:spLocks noGrp="1"/>
          </p:cNvSpPr>
          <p:nvPr/>
        </p:nvSpPr>
        <p:spPr>
          <a:xfrm>
            <a:off x="666750" y="1733550"/>
            <a:ext cx="4905375" cy="428625"/>
          </a:xfrm>
          <a:prstGeom prst="rect">
            <a:avLst/>
          </a:prstGeom>
          <a:noFill/>
          <a:ln w="0">
            <a:noFill/>
          </a:ln>
        </p:spPr>
        <p:txBody>
          <a:bodyPr>
            <a:noAutofit/>
          </a:bodyPr>
          <a:lstStyle/>
          <a:p>
            <a:pPr>
              <a:defRPr sz="2325" b="1">
                <a:solidFill>
                  <a:srgbClr val="007F87"/>
                </a:solidFill>
                <a:latin typeface="Arial"/>
                <a:ea typeface="Arial"/>
                <a:cs typeface="Arial"/>
              </a:defRPr>
            </a:pPr>
            <a:r>
              <a:rPr sz="2325" b="1">
                <a:solidFill>
                  <a:srgbClr val="007F87"/>
                </a:solidFill>
                <a:latin typeface="Arial"/>
                <a:ea typeface="Arial"/>
                <a:cs typeface="Arial"/>
              </a:rPr>
              <a:t>User request</a:t>
            </a:r>
          </a:p>
        </p:txBody>
      </p:sp>
      <p:sp>
        <p:nvSpPr>
          <p:cNvPr id="3" name="矩形 2">
            <a:extLst>
              <a:ext uri="{FF2B5EF4-FFF2-40B4-BE49-F238E27FC236}">
                <a16:creationId xmlns:a16="http://schemas.microsoft.com/office/drawing/2014/main" id="{AADFECDB-4803-41A3-AF75-4750D544F795}"/>
              </a:ext>
            </a:extLst>
          </p:cNvPr>
          <p:cNvSpPr>
            <a:spLocks noGrp="1"/>
          </p:cNvSpPr>
          <p:nvPr/>
        </p:nvSpPr>
        <p:spPr>
          <a:xfrm>
            <a:off x="666750" y="2371725"/>
            <a:ext cx="4905375" cy="3476625"/>
          </a:xfrm>
          <a:prstGeom prst="rect">
            <a:avLst/>
          </a:prstGeom>
          <a:noFill/>
          <a:ln w="0">
            <a:noFill/>
          </a:ln>
        </p:spPr>
        <p:txBody>
          <a:bodyPr>
            <a:noAutofit/>
          </a:bodyPr>
          <a:lstStyle/>
          <a:p>
            <a:pPr>
              <a:defRPr sz="2100" b="0">
                <a:solidFill>
                  <a:srgbClr val="24384A"/>
                </a:solidFill>
                <a:latin typeface="Arial"/>
                <a:ea typeface="Arial"/>
                <a:cs typeface="Arial"/>
              </a:defRPr>
            </a:pPr>
            <a:r>
              <a:rPr sz="2100" b="0">
                <a:solidFill>
                  <a:srgbClr val="24384A"/>
                </a:solidFill>
                <a:latin typeface="Arial"/>
                <a:ea typeface="Arial"/>
                <a:cs typeface="Arial"/>
              </a:rPr>
              <a:t>“Recommend a comedy released after 2020, under 2 hours.”</a:t>
            </a:r>
          </a:p>
          <a:p>
            <a:endParaRPr sz="2100" b="0">
              <a:solidFill>
                <a:srgbClr val="24384A"/>
              </a:solidFill>
              <a:latin typeface="Arial"/>
              <a:ea typeface="Arial"/>
              <a:cs typeface="Arial"/>
            </a:endParaRPr>
          </a:p>
          <a:p>
            <a:pPr>
              <a:defRPr sz="2100" b="0">
                <a:solidFill>
                  <a:srgbClr val="24384A"/>
                </a:solidFill>
                <a:latin typeface="Arial"/>
                <a:ea typeface="Arial"/>
                <a:cs typeface="Arial"/>
              </a:defRPr>
            </a:pPr>
            <a:r>
              <a:rPr sz="2100" b="0">
                <a:solidFill>
                  <a:srgbClr val="24384A"/>
                </a:solidFill>
                <a:latin typeface="Arial"/>
                <a:ea typeface="Arial"/>
                <a:cs typeface="Arial"/>
              </a:rPr>
              <a:t>Recognized preferences:</a:t>
            </a:r>
          </a:p>
          <a:p>
            <a:pPr>
              <a:defRPr sz="2100" b="0">
                <a:solidFill>
                  <a:srgbClr val="24384A"/>
                </a:solidFill>
                <a:latin typeface="Arial"/>
                <a:ea typeface="Arial"/>
                <a:cs typeface="Arial"/>
              </a:defRPr>
            </a:pPr>
            <a:r>
              <a:rPr sz="2100" b="0">
                <a:solidFill>
                  <a:srgbClr val="24384A"/>
                </a:solidFill>
                <a:latin typeface="Arial"/>
                <a:ea typeface="Arial"/>
                <a:cs typeface="Arial"/>
              </a:rPr>
              <a:t>Comedy</a:t>
            </a:r>
          </a:p>
          <a:p>
            <a:pPr>
              <a:defRPr sz="2100" b="0">
                <a:solidFill>
                  <a:srgbClr val="24384A"/>
                </a:solidFill>
                <a:latin typeface="Arial"/>
                <a:ea typeface="Arial"/>
                <a:cs typeface="Arial"/>
              </a:defRPr>
            </a:pPr>
            <a:r>
              <a:rPr sz="2100" b="0">
                <a:solidFill>
                  <a:srgbClr val="24384A"/>
                </a:solidFill>
                <a:latin typeface="Arial"/>
                <a:ea typeface="Arial"/>
                <a:cs typeface="Arial"/>
              </a:rPr>
              <a:t>After 2020</a:t>
            </a:r>
          </a:p>
          <a:p>
            <a:pPr>
              <a:defRPr sz="2100" b="0">
                <a:solidFill>
                  <a:srgbClr val="24384A"/>
                </a:solidFill>
                <a:latin typeface="Arial"/>
                <a:ea typeface="Arial"/>
                <a:cs typeface="Arial"/>
              </a:defRPr>
            </a:pPr>
            <a:r>
              <a:rPr sz="2100" b="0">
                <a:solidFill>
                  <a:srgbClr val="24384A"/>
                </a:solidFill>
                <a:latin typeface="Arial"/>
                <a:ea typeface="Arial"/>
                <a:cs typeface="Arial"/>
              </a:rPr>
              <a:t>Under 120 minutes</a:t>
            </a:r>
          </a:p>
        </p:txBody>
      </p:sp>
      <p:sp>
        <p:nvSpPr>
          <p:cNvPr id="4" name="矩形 3">
            <a:extLst>
              <a:ext uri="{FF2B5EF4-FFF2-40B4-BE49-F238E27FC236}">
                <a16:creationId xmlns:a16="http://schemas.microsoft.com/office/drawing/2014/main" id="{DAD3A647-D3DA-4606-8F05-FAA59047DBA3}"/>
              </a:ext>
            </a:extLst>
          </p:cNvPr>
          <p:cNvSpPr>
            <a:spLocks noGrp="1"/>
          </p:cNvSpPr>
          <p:nvPr/>
        </p:nvSpPr>
        <p:spPr>
          <a:xfrm>
            <a:off x="6477000" y="1733550"/>
            <a:ext cx="4905375" cy="428625"/>
          </a:xfrm>
          <a:prstGeom prst="rect">
            <a:avLst/>
          </a:prstGeom>
          <a:noFill/>
          <a:ln w="0">
            <a:noFill/>
          </a:ln>
        </p:spPr>
        <p:txBody>
          <a:bodyPr>
            <a:noAutofit/>
          </a:bodyPr>
          <a:lstStyle/>
          <a:p>
            <a:pPr>
              <a:defRPr sz="2325" b="1">
                <a:solidFill>
                  <a:srgbClr val="007F87"/>
                </a:solidFill>
                <a:latin typeface="Arial"/>
                <a:ea typeface="Arial"/>
                <a:cs typeface="Arial"/>
              </a:defRPr>
            </a:pPr>
            <a:r>
              <a:rPr sz="2325" b="1">
                <a:solidFill>
                  <a:srgbClr val="007F87"/>
                </a:solidFill>
                <a:latin typeface="Arial"/>
                <a:ea typeface="Arial"/>
                <a:cs typeface="Arial"/>
              </a:rPr>
              <a:t>Proposed chatbot response</a:t>
            </a:r>
          </a:p>
        </p:txBody>
      </p:sp>
      <p:sp>
        <p:nvSpPr>
          <p:cNvPr id="5" name="矩形 4">
            <a:extLst>
              <a:ext uri="{FF2B5EF4-FFF2-40B4-BE49-F238E27FC236}">
                <a16:creationId xmlns:a16="http://schemas.microsoft.com/office/drawing/2014/main" id="{090444E9-ACEB-4E21-ACBC-D5DBA5C99AED}"/>
              </a:ext>
            </a:extLst>
          </p:cNvPr>
          <p:cNvSpPr>
            <a:spLocks noGrp="1"/>
          </p:cNvSpPr>
          <p:nvPr/>
        </p:nvSpPr>
        <p:spPr>
          <a:xfrm>
            <a:off x="6477000" y="2371725"/>
            <a:ext cx="4905375" cy="3476625"/>
          </a:xfrm>
          <a:prstGeom prst="rect">
            <a:avLst/>
          </a:prstGeom>
          <a:noFill/>
          <a:ln w="0">
            <a:noFill/>
          </a:ln>
        </p:spPr>
        <p:txBody>
          <a:bodyPr>
            <a:noAutofit/>
          </a:bodyPr>
          <a:lstStyle/>
          <a:p>
            <a:pPr>
              <a:defRPr sz="2100" b="0">
                <a:solidFill>
                  <a:srgbClr val="24384A"/>
                </a:solidFill>
                <a:latin typeface="Arial"/>
                <a:ea typeface="Arial"/>
                <a:cs typeface="Arial"/>
              </a:defRPr>
            </a:pPr>
            <a:r>
              <a:rPr sz="2100" b="0">
                <a:solidFill>
                  <a:srgbClr val="24384A"/>
                </a:solidFill>
                <a:latin typeface="Arial"/>
                <a:ea typeface="Arial"/>
                <a:cs typeface="Arial"/>
              </a:rPr>
              <a:t>A list of matching movies with brief descriptions and ratings</a:t>
            </a:r>
          </a:p>
          <a:p>
            <a:endParaRPr sz="2100" b="0">
              <a:solidFill>
                <a:srgbClr val="24384A"/>
              </a:solidFill>
              <a:latin typeface="Arial"/>
              <a:ea typeface="Arial"/>
              <a:cs typeface="Arial"/>
            </a:endParaRPr>
          </a:p>
          <a:p>
            <a:pPr>
              <a:defRPr sz="2100" b="0">
                <a:solidFill>
                  <a:srgbClr val="24384A"/>
                </a:solidFill>
                <a:latin typeface="Arial"/>
                <a:ea typeface="Arial"/>
                <a:cs typeface="Arial"/>
              </a:defRPr>
            </a:pPr>
            <a:r>
              <a:rPr sz="2100" b="0">
                <a:solidFill>
                  <a:srgbClr val="24384A"/>
                </a:solidFill>
                <a:latin typeface="Arial"/>
                <a:ea typeface="Arial"/>
                <a:cs typeface="Arial"/>
              </a:rPr>
              <a:t>Follow-up request:</a:t>
            </a:r>
          </a:p>
          <a:p>
            <a:pPr>
              <a:defRPr sz="2100" b="0">
                <a:solidFill>
                  <a:srgbClr val="24384A"/>
                </a:solidFill>
                <a:latin typeface="Arial"/>
                <a:ea typeface="Arial"/>
                <a:cs typeface="Arial"/>
              </a:defRPr>
            </a:pPr>
            <a:r>
              <a:rPr sz="2100" b="0">
                <a:solidFill>
                  <a:srgbClr val="24384A"/>
                </a:solidFill>
                <a:latin typeface="Arial"/>
                <a:ea typeface="Arial"/>
                <a:cs typeface="Arial"/>
              </a:rPr>
              <a:t>“Show me something similar.”</a:t>
            </a:r>
          </a:p>
        </p:txBody>
      </p:sp>
      <p:sp>
        <p:nvSpPr>
          <p:cNvPr id="6" name="矩形 5">
            <a:extLst>
              <a:ext uri="{FF2B5EF4-FFF2-40B4-BE49-F238E27FC236}">
                <a16:creationId xmlns:a16="http://schemas.microsoft.com/office/drawing/2014/main" id="{BBB632B6-7DA4-44B5-9A8C-DA1DD0DB7FC3}"/>
              </a:ext>
            </a:extLst>
          </p:cNvPr>
          <p:cNvSpPr>
            <a:spLocks noGrp="1"/>
          </p:cNvSpPr>
          <p:nvPr/>
        </p:nvSpPr>
        <p:spPr>
          <a:xfrm>
            <a:off x="666750" y="5953125"/>
            <a:ext cx="10668000" cy="523875"/>
          </a:xfrm>
          <a:prstGeom prst="rect">
            <a:avLst/>
          </a:prstGeom>
          <a:noFill/>
          <a:ln w="0">
            <a:noFill/>
          </a:ln>
        </p:spPr>
        <p:txBody>
          <a:bodyPr>
            <a:noAutofit/>
          </a:bodyPr>
          <a:lstStyle/>
          <a:p>
            <a:pPr>
              <a:defRPr sz="1800" b="0">
                <a:solidFill>
                  <a:srgbClr val="536574"/>
                </a:solidFill>
                <a:latin typeface="Arial"/>
                <a:ea typeface="Arial"/>
                <a:cs typeface="Arial"/>
              </a:defRPr>
            </a:pPr>
            <a:endParaRPr sz="1800" b="0" dirty="0">
              <a:solidFill>
                <a:srgbClr val="536574"/>
              </a:solidFill>
              <a:latin typeface="Arial"/>
              <a:ea typeface="Arial"/>
              <a:cs typeface="Arial"/>
            </a:endParaRPr>
          </a:p>
        </p:txBody>
      </p:sp>
      <p:sp>
        <p:nvSpPr>
          <p:cNvPr id="7" name="矩形 6">
            <a:extLst>
              <a:ext uri="{FF2B5EF4-FFF2-40B4-BE49-F238E27FC236}">
                <a16:creationId xmlns:a16="http://schemas.microsoft.com/office/drawing/2014/main" id="{598485C8-04DC-4644-87B0-CCA6A2B251D9}"/>
              </a:ext>
            </a:extLst>
          </p:cNvPr>
          <p:cNvSpPr>
            <a:spLocks noGrp="1"/>
          </p:cNvSpPr>
          <p:nvPr/>
        </p:nvSpPr>
        <p:spPr>
          <a:xfrm>
            <a:off x="11334750" y="6457950"/>
            <a:ext cx="476250" cy="266700"/>
          </a:xfrm>
          <a:prstGeom prst="rect">
            <a:avLst/>
          </a:prstGeom>
          <a:noFill/>
          <a:ln w="0">
            <a:noFill/>
          </a:ln>
        </p:spPr>
        <p:txBody>
          <a:bodyPr>
            <a:noAutofit/>
          </a:bodyPr>
          <a:lstStyle/>
          <a:p>
            <a:pPr>
              <a:defRPr sz="1275" b="0">
                <a:solidFill>
                  <a:srgbClr val="6C7A86"/>
                </a:solidFill>
                <a:latin typeface="Arial"/>
                <a:ea typeface="Arial"/>
                <a:cs typeface="Arial"/>
              </a:defRPr>
            </a:pPr>
            <a:r>
              <a:rPr sz="1275" b="0">
                <a:solidFill>
                  <a:srgbClr val="6C7A86"/>
                </a:solidFill>
                <a:latin typeface="Arial"/>
                <a:ea typeface="Arial"/>
                <a:cs typeface="Arial"/>
              </a:rPr>
              <a:t>05</a:t>
            </a:r>
          </a:p>
        </p:txBody>
      </p:sp>
    </p:spTree>
    <p:extLst>
      <p:ext uri="{BB962C8B-B14F-4D97-AF65-F5344CB8AC3E}">
        <p14:creationId xmlns:p14="http://schemas.microsoft.com/office/powerpoint/2010/main" val="10045190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7F9FB"/>
        </a:solidFill>
        <a:effectLst/>
      </p:bgPr>
    </p:bg>
    <p:spTree>
      <p:nvGrpSpPr>
        <p:cNvPr id="1" name=""/>
        <p:cNvGrpSpPr/>
        <p:nvPr/>
      </p:nvGrpSpPr>
      <p:grpSpPr>
        <a:xfrm>
          <a:off x="0" y="0"/>
          <a:ext cx="0" cy="0"/>
          <a:chOff x="0" y="0"/>
          <a:chExt cx="0" cy="0"/>
        </a:xfrm>
      </p:grpSpPr>
      <p:sp>
        <p:nvSpPr>
          <p:cNvPr id="7" name="矩形 6">
            <a:extLst>
              <a:ext uri="{FF2B5EF4-FFF2-40B4-BE49-F238E27FC236}">
                <a16:creationId xmlns:a16="http://schemas.microsoft.com/office/drawing/2014/main" id="{84E85D8D-1CCB-4D91-949C-797105CF6F3C}"/>
              </a:ext>
            </a:extLst>
          </p:cNvPr>
          <p:cNvSpPr>
            <a:spLocks noGrp="1"/>
          </p:cNvSpPr>
          <p:nvPr/>
        </p:nvSpPr>
        <p:spPr>
          <a:xfrm>
            <a:off x="609600" y="476250"/>
            <a:ext cx="10953750" cy="1000125"/>
          </a:xfrm>
          <a:prstGeom prst="rect">
            <a:avLst/>
          </a:prstGeom>
          <a:noFill/>
          <a:ln w="0">
            <a:noFill/>
          </a:ln>
        </p:spPr>
        <p:txBody>
          <a:bodyPr>
            <a:noAutofit/>
          </a:bodyPr>
          <a:lstStyle/>
          <a:p>
            <a:pPr>
              <a:defRPr sz="3300" b="1">
                <a:solidFill>
                  <a:srgbClr val="0B283B"/>
                </a:solidFill>
                <a:latin typeface="Arial"/>
                <a:ea typeface="Arial"/>
                <a:cs typeface="Arial"/>
              </a:defRPr>
            </a:pPr>
            <a:r>
              <a:rPr sz="3300" b="1">
                <a:solidFill>
                  <a:srgbClr val="0B283B"/>
                </a:solidFill>
                <a:latin typeface="Arial"/>
                <a:ea typeface="Arial"/>
                <a:cs typeface="Arial"/>
              </a:rPr>
              <a:t>Quality, security, and teamwork</a:t>
            </a:r>
          </a:p>
        </p:txBody>
      </p:sp>
      <p:sp>
        <p:nvSpPr>
          <p:cNvPr id="2" name="矩形 1">
            <a:extLst>
              <a:ext uri="{FF2B5EF4-FFF2-40B4-BE49-F238E27FC236}">
                <a16:creationId xmlns:a16="http://schemas.microsoft.com/office/drawing/2014/main" id="{4C50464C-9528-48B0-AA07-3AF3615BAAB6}"/>
              </a:ext>
            </a:extLst>
          </p:cNvPr>
          <p:cNvSpPr>
            <a:spLocks noGrp="1"/>
          </p:cNvSpPr>
          <p:nvPr/>
        </p:nvSpPr>
        <p:spPr>
          <a:xfrm>
            <a:off x="666750" y="1733550"/>
            <a:ext cx="4905375" cy="428625"/>
          </a:xfrm>
          <a:prstGeom prst="rect">
            <a:avLst/>
          </a:prstGeom>
          <a:noFill/>
          <a:ln w="0">
            <a:noFill/>
          </a:ln>
        </p:spPr>
        <p:txBody>
          <a:bodyPr>
            <a:noAutofit/>
          </a:bodyPr>
          <a:lstStyle/>
          <a:p>
            <a:pPr>
              <a:defRPr sz="2325" b="1">
                <a:solidFill>
                  <a:srgbClr val="007F87"/>
                </a:solidFill>
                <a:latin typeface="Arial"/>
                <a:ea typeface="Arial"/>
                <a:cs typeface="Arial"/>
              </a:defRPr>
            </a:pPr>
            <a:r>
              <a:rPr sz="2325" b="1">
                <a:solidFill>
                  <a:srgbClr val="007F87"/>
                </a:solidFill>
                <a:latin typeface="Arial"/>
                <a:ea typeface="Arial"/>
                <a:cs typeface="Arial"/>
              </a:rPr>
              <a:t>Product requirements</a:t>
            </a:r>
          </a:p>
        </p:txBody>
      </p:sp>
      <p:sp>
        <p:nvSpPr>
          <p:cNvPr id="3" name="矩形 2">
            <a:extLst>
              <a:ext uri="{FF2B5EF4-FFF2-40B4-BE49-F238E27FC236}">
                <a16:creationId xmlns:a16="http://schemas.microsoft.com/office/drawing/2014/main" id="{FDDC1DFD-0595-446D-A54F-4AE6450B0128}"/>
              </a:ext>
            </a:extLst>
          </p:cNvPr>
          <p:cNvSpPr>
            <a:spLocks noGrp="1"/>
          </p:cNvSpPr>
          <p:nvPr/>
        </p:nvSpPr>
        <p:spPr>
          <a:xfrm>
            <a:off x="666750" y="2371725"/>
            <a:ext cx="4905375" cy="3476625"/>
          </a:xfrm>
          <a:prstGeom prst="rect">
            <a:avLst/>
          </a:prstGeom>
          <a:noFill/>
          <a:ln w="0">
            <a:noFill/>
          </a:ln>
        </p:spPr>
        <p:txBody>
          <a:bodyPr>
            <a:noAutofit/>
          </a:bodyPr>
          <a:lstStyle/>
          <a:p>
            <a:pPr>
              <a:defRPr sz="2100" b="0">
                <a:solidFill>
                  <a:srgbClr val="24384A"/>
                </a:solidFill>
                <a:latin typeface="Arial"/>
                <a:ea typeface="Arial"/>
                <a:cs typeface="Arial"/>
              </a:defRPr>
            </a:pPr>
            <a:r>
              <a:rPr sz="2100" b="0">
                <a:solidFill>
                  <a:srgbClr val="24384A"/>
                </a:solidFill>
                <a:latin typeface="Arial"/>
                <a:ea typeface="Arial"/>
                <a:cs typeface="Arial"/>
              </a:rPr>
              <a:t>Response target: within 3 seconds</a:t>
            </a:r>
          </a:p>
          <a:p>
            <a:endParaRPr sz="2100" b="0">
              <a:solidFill>
                <a:srgbClr val="24384A"/>
              </a:solidFill>
              <a:latin typeface="Arial"/>
              <a:ea typeface="Arial"/>
              <a:cs typeface="Arial"/>
            </a:endParaRPr>
          </a:p>
          <a:p>
            <a:pPr>
              <a:defRPr sz="2100" b="0">
                <a:solidFill>
                  <a:srgbClr val="24384A"/>
                </a:solidFill>
                <a:latin typeface="Arial"/>
                <a:ea typeface="Arial"/>
                <a:cs typeface="Arial"/>
              </a:defRPr>
            </a:pPr>
            <a:r>
              <a:rPr sz="2100" b="0">
                <a:solidFill>
                  <a:srgbClr val="24384A"/>
                </a:solidFill>
                <a:latin typeface="Arial"/>
                <a:ea typeface="Arial"/>
                <a:cs typeface="Arial"/>
              </a:rPr>
              <a:t>Responsive desktop and mobile UI</a:t>
            </a:r>
          </a:p>
          <a:p>
            <a:endParaRPr sz="2100" b="0">
              <a:solidFill>
                <a:srgbClr val="24384A"/>
              </a:solidFill>
              <a:latin typeface="Arial"/>
              <a:ea typeface="Arial"/>
              <a:cs typeface="Arial"/>
            </a:endParaRPr>
          </a:p>
          <a:p>
            <a:pPr>
              <a:defRPr sz="2100" b="0">
                <a:solidFill>
                  <a:srgbClr val="24384A"/>
                </a:solidFill>
                <a:latin typeface="Arial"/>
                <a:ea typeface="Arial"/>
                <a:cs typeface="Arial"/>
              </a:defRPr>
            </a:pPr>
            <a:r>
              <a:rPr sz="2100" b="0">
                <a:solidFill>
                  <a:srgbClr val="24384A"/>
                </a:solidFill>
                <a:latin typeface="Arial"/>
                <a:ea typeface="Arial"/>
                <a:cs typeface="Arial"/>
              </a:rPr>
              <a:t>Server-side API keys and input sanitization</a:t>
            </a:r>
          </a:p>
        </p:txBody>
      </p:sp>
      <p:sp>
        <p:nvSpPr>
          <p:cNvPr id="4" name="矩形 3">
            <a:extLst>
              <a:ext uri="{FF2B5EF4-FFF2-40B4-BE49-F238E27FC236}">
                <a16:creationId xmlns:a16="http://schemas.microsoft.com/office/drawing/2014/main" id="{ABD01F9D-CB5D-4265-A3E1-A9ADD7CF7926}"/>
              </a:ext>
            </a:extLst>
          </p:cNvPr>
          <p:cNvSpPr>
            <a:spLocks noGrp="1"/>
          </p:cNvSpPr>
          <p:nvPr/>
        </p:nvSpPr>
        <p:spPr>
          <a:xfrm>
            <a:off x="6477000" y="1733550"/>
            <a:ext cx="4905375" cy="428625"/>
          </a:xfrm>
          <a:prstGeom prst="rect">
            <a:avLst/>
          </a:prstGeom>
          <a:noFill/>
          <a:ln w="0">
            <a:noFill/>
          </a:ln>
        </p:spPr>
        <p:txBody>
          <a:bodyPr>
            <a:noAutofit/>
          </a:bodyPr>
          <a:lstStyle/>
          <a:p>
            <a:pPr>
              <a:defRPr sz="2325" b="1">
                <a:solidFill>
                  <a:srgbClr val="007F87"/>
                </a:solidFill>
                <a:latin typeface="Arial"/>
                <a:ea typeface="Arial"/>
                <a:cs typeface="Arial"/>
              </a:defRPr>
            </a:pPr>
            <a:r>
              <a:rPr sz="2325" b="1">
                <a:solidFill>
                  <a:srgbClr val="007F87"/>
                </a:solidFill>
                <a:latin typeface="Arial"/>
                <a:ea typeface="Arial"/>
                <a:cs typeface="Arial"/>
              </a:rPr>
              <a:t>Team workflow</a:t>
            </a:r>
          </a:p>
        </p:txBody>
      </p:sp>
      <p:sp>
        <p:nvSpPr>
          <p:cNvPr id="5" name="矩形 4">
            <a:extLst>
              <a:ext uri="{FF2B5EF4-FFF2-40B4-BE49-F238E27FC236}">
                <a16:creationId xmlns:a16="http://schemas.microsoft.com/office/drawing/2014/main" id="{E0C64B6D-4A76-4A68-8E6E-572ECE8D3223}"/>
              </a:ext>
            </a:extLst>
          </p:cNvPr>
          <p:cNvSpPr>
            <a:spLocks noGrp="1"/>
          </p:cNvSpPr>
          <p:nvPr/>
        </p:nvSpPr>
        <p:spPr>
          <a:xfrm>
            <a:off x="6477000" y="2371725"/>
            <a:ext cx="4905375" cy="3476625"/>
          </a:xfrm>
          <a:prstGeom prst="rect">
            <a:avLst/>
          </a:prstGeom>
          <a:noFill/>
          <a:ln w="0">
            <a:noFill/>
          </a:ln>
        </p:spPr>
        <p:txBody>
          <a:bodyPr>
            <a:noAutofit/>
          </a:bodyPr>
          <a:lstStyle/>
          <a:p>
            <a:pPr>
              <a:defRPr sz="2100" b="0">
                <a:solidFill>
                  <a:srgbClr val="24384A"/>
                </a:solidFill>
                <a:latin typeface="Arial"/>
                <a:ea typeface="Arial"/>
                <a:cs typeface="Arial"/>
              </a:defRPr>
            </a:pPr>
            <a:r>
              <a:rPr sz="2100" b="0">
                <a:solidFill>
                  <a:srgbClr val="24384A"/>
                </a:solidFill>
                <a:latin typeface="Arial"/>
                <a:ea typeface="Arial"/>
                <a:cs typeface="Arial"/>
              </a:rPr>
              <a:t>Feature branches and peer PR review</a:t>
            </a:r>
          </a:p>
          <a:p>
            <a:endParaRPr sz="2100" b="0">
              <a:solidFill>
                <a:srgbClr val="24384A"/>
              </a:solidFill>
              <a:latin typeface="Arial"/>
              <a:ea typeface="Arial"/>
              <a:cs typeface="Arial"/>
            </a:endParaRPr>
          </a:p>
          <a:p>
            <a:pPr>
              <a:defRPr sz="2100" b="0">
                <a:solidFill>
                  <a:srgbClr val="24384A"/>
                </a:solidFill>
                <a:latin typeface="Arial"/>
                <a:ea typeface="Arial"/>
                <a:cs typeface="Arial"/>
              </a:defRPr>
            </a:pPr>
            <a:r>
              <a:rPr sz="2100" b="0">
                <a:solidFill>
                  <a:srgbClr val="24384A"/>
                </a:solidFill>
                <a:latin typeface="Arial"/>
                <a:ea typeface="Arial"/>
                <a:cs typeface="Arial"/>
              </a:rPr>
              <a:t>Unit and integration tests</a:t>
            </a:r>
          </a:p>
          <a:p>
            <a:endParaRPr sz="2100" b="0">
              <a:solidFill>
                <a:srgbClr val="24384A"/>
              </a:solidFill>
              <a:latin typeface="Arial"/>
              <a:ea typeface="Arial"/>
              <a:cs typeface="Arial"/>
            </a:endParaRPr>
          </a:p>
          <a:p>
            <a:pPr>
              <a:defRPr sz="2100" b="0">
                <a:solidFill>
                  <a:srgbClr val="24384A"/>
                </a:solidFill>
                <a:latin typeface="Arial"/>
                <a:ea typeface="Arial"/>
                <a:cs typeface="Arial"/>
              </a:defRPr>
            </a:pPr>
            <a:r>
              <a:rPr sz="2100" b="0">
                <a:solidFill>
                  <a:srgbClr val="24384A"/>
                </a:solidFill>
                <a:latin typeface="Arial"/>
                <a:ea typeface="Arial"/>
                <a:cs typeface="Arial"/>
              </a:rPr>
              <a:t>GitHub Actions checks and Issues for defects</a:t>
            </a:r>
          </a:p>
        </p:txBody>
      </p:sp>
      <p:sp>
        <p:nvSpPr>
          <p:cNvPr id="6" name="矩形 5">
            <a:extLst>
              <a:ext uri="{FF2B5EF4-FFF2-40B4-BE49-F238E27FC236}">
                <a16:creationId xmlns:a16="http://schemas.microsoft.com/office/drawing/2014/main" id="{6CDE42A5-C780-4966-8EF7-AFD8F18F7136}"/>
              </a:ext>
            </a:extLst>
          </p:cNvPr>
          <p:cNvSpPr>
            <a:spLocks noGrp="1"/>
          </p:cNvSpPr>
          <p:nvPr/>
        </p:nvSpPr>
        <p:spPr>
          <a:xfrm>
            <a:off x="11334750" y="6457950"/>
            <a:ext cx="476250" cy="266700"/>
          </a:xfrm>
          <a:prstGeom prst="rect">
            <a:avLst/>
          </a:prstGeom>
          <a:noFill/>
          <a:ln w="0">
            <a:noFill/>
          </a:ln>
        </p:spPr>
        <p:txBody>
          <a:bodyPr>
            <a:noAutofit/>
          </a:bodyPr>
          <a:lstStyle/>
          <a:p>
            <a:pPr>
              <a:defRPr sz="1275" b="0">
                <a:solidFill>
                  <a:srgbClr val="6C7A86"/>
                </a:solidFill>
                <a:latin typeface="Arial"/>
                <a:ea typeface="Arial"/>
                <a:cs typeface="Arial"/>
              </a:defRPr>
            </a:pPr>
            <a:r>
              <a:rPr sz="1275" b="0">
                <a:solidFill>
                  <a:srgbClr val="6C7A86"/>
                </a:solidFill>
                <a:latin typeface="Arial"/>
                <a:ea typeface="Arial"/>
                <a:cs typeface="Arial"/>
              </a:rPr>
              <a:t>06</a:t>
            </a:r>
          </a:p>
        </p:txBody>
      </p:sp>
    </p:spTree>
    <p:extLst>
      <p:ext uri="{BB962C8B-B14F-4D97-AF65-F5344CB8AC3E}">
        <p14:creationId xmlns:p14="http://schemas.microsoft.com/office/powerpoint/2010/main" val="16164172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7F9FB"/>
        </a:solidFill>
        <a:effectLst/>
      </p:bgPr>
    </p:bg>
    <p:spTree>
      <p:nvGrpSpPr>
        <p:cNvPr id="1" name=""/>
        <p:cNvGrpSpPr/>
        <p:nvPr/>
      </p:nvGrpSpPr>
      <p:grpSpPr>
        <a:xfrm>
          <a:off x="0" y="0"/>
          <a:ext cx="0" cy="0"/>
          <a:chOff x="0" y="0"/>
          <a:chExt cx="0" cy="0"/>
        </a:xfrm>
      </p:grpSpPr>
      <p:sp>
        <p:nvSpPr>
          <p:cNvPr id="10" name="矩形 9">
            <a:extLst>
              <a:ext uri="{FF2B5EF4-FFF2-40B4-BE49-F238E27FC236}">
                <a16:creationId xmlns:a16="http://schemas.microsoft.com/office/drawing/2014/main" id="{37CF00F7-F895-4E36-B71F-4FE237015F47}"/>
              </a:ext>
            </a:extLst>
          </p:cNvPr>
          <p:cNvSpPr>
            <a:spLocks noGrp="1"/>
          </p:cNvSpPr>
          <p:nvPr/>
        </p:nvSpPr>
        <p:spPr>
          <a:xfrm>
            <a:off x="609600" y="476250"/>
            <a:ext cx="10953750" cy="1000125"/>
          </a:xfrm>
          <a:prstGeom prst="rect">
            <a:avLst/>
          </a:prstGeom>
          <a:noFill/>
          <a:ln w="0">
            <a:noFill/>
          </a:ln>
        </p:spPr>
        <p:txBody>
          <a:bodyPr>
            <a:noAutofit/>
          </a:bodyPr>
          <a:lstStyle/>
          <a:p>
            <a:pPr>
              <a:defRPr sz="3300" b="1">
                <a:solidFill>
                  <a:srgbClr val="0B283B"/>
                </a:solidFill>
                <a:latin typeface="Arial"/>
                <a:ea typeface="Arial"/>
                <a:cs typeface="Arial"/>
              </a:defRPr>
            </a:pPr>
            <a:r>
              <a:rPr sz="3300" b="1">
                <a:solidFill>
                  <a:srgbClr val="0B283B"/>
                </a:solidFill>
                <a:latin typeface="Arial"/>
                <a:ea typeface="Arial"/>
                <a:cs typeface="Arial"/>
              </a:rPr>
              <a:t>Risks and next steps</a:t>
            </a:r>
          </a:p>
        </p:txBody>
      </p:sp>
      <p:sp>
        <p:nvSpPr>
          <p:cNvPr id="2" name="矩形 1">
            <a:extLst>
              <a:ext uri="{FF2B5EF4-FFF2-40B4-BE49-F238E27FC236}">
                <a16:creationId xmlns:a16="http://schemas.microsoft.com/office/drawing/2014/main" id="{B1FC8BA4-C584-4831-9D0E-353D5D3CC89D}"/>
              </a:ext>
            </a:extLst>
          </p:cNvPr>
          <p:cNvSpPr>
            <a:spLocks noGrp="1"/>
          </p:cNvSpPr>
          <p:nvPr/>
        </p:nvSpPr>
        <p:spPr>
          <a:xfrm>
            <a:off x="666750" y="1714500"/>
            <a:ext cx="4191000" cy="571500"/>
          </a:xfrm>
          <a:prstGeom prst="rect">
            <a:avLst/>
          </a:prstGeom>
          <a:noFill/>
          <a:ln w="0">
            <a:noFill/>
          </a:ln>
        </p:spPr>
        <p:txBody>
          <a:bodyPr>
            <a:noAutofit/>
          </a:bodyPr>
          <a:lstStyle/>
          <a:p>
            <a:pPr>
              <a:defRPr sz="2175" b="1">
                <a:solidFill>
                  <a:srgbClr val="007F87"/>
                </a:solidFill>
                <a:latin typeface="Arial"/>
                <a:ea typeface="Arial"/>
                <a:cs typeface="Arial"/>
              </a:defRPr>
            </a:pPr>
            <a:r>
              <a:rPr sz="2175" b="1">
                <a:solidFill>
                  <a:srgbClr val="007F87"/>
                </a:solidFill>
                <a:latin typeface="Arial"/>
                <a:ea typeface="Arial"/>
                <a:cs typeface="Arial"/>
              </a:rPr>
              <a:t>Limited development time</a:t>
            </a:r>
          </a:p>
        </p:txBody>
      </p:sp>
      <p:sp>
        <p:nvSpPr>
          <p:cNvPr id="3" name="矩形 2">
            <a:extLst>
              <a:ext uri="{FF2B5EF4-FFF2-40B4-BE49-F238E27FC236}">
                <a16:creationId xmlns:a16="http://schemas.microsoft.com/office/drawing/2014/main" id="{32BD43AD-A246-41A6-BEF9-2502336AD3B9}"/>
              </a:ext>
            </a:extLst>
          </p:cNvPr>
          <p:cNvSpPr>
            <a:spLocks noGrp="1"/>
          </p:cNvSpPr>
          <p:nvPr/>
        </p:nvSpPr>
        <p:spPr>
          <a:xfrm>
            <a:off x="5143500" y="1714500"/>
            <a:ext cx="6286500" cy="952500"/>
          </a:xfrm>
          <a:prstGeom prst="rect">
            <a:avLst/>
          </a:prstGeom>
          <a:noFill/>
          <a:ln w="0">
            <a:noFill/>
          </a:ln>
        </p:spPr>
        <p:txBody>
          <a:bodyPr>
            <a:noAutofit/>
          </a:bodyPr>
          <a:lstStyle/>
          <a:p>
            <a:pPr>
              <a:defRPr sz="2100" b="0">
                <a:solidFill>
                  <a:srgbClr val="24384A"/>
                </a:solidFill>
                <a:latin typeface="Arial"/>
                <a:ea typeface="Arial"/>
                <a:cs typeface="Arial"/>
              </a:defRPr>
            </a:pPr>
            <a:r>
              <a:rPr sz="2100" b="0">
                <a:solidFill>
                  <a:srgbClr val="24384A"/>
                </a:solidFill>
                <a:latin typeface="Arial"/>
                <a:ea typeface="Arial"/>
                <a:cs typeface="Arial"/>
              </a:rPr>
              <a:t>Prioritize the essential chatbot and divide tasks clearly</a:t>
            </a:r>
          </a:p>
        </p:txBody>
      </p:sp>
      <p:sp>
        <p:nvSpPr>
          <p:cNvPr id="4" name="矩形 3">
            <a:extLst>
              <a:ext uri="{FF2B5EF4-FFF2-40B4-BE49-F238E27FC236}">
                <a16:creationId xmlns:a16="http://schemas.microsoft.com/office/drawing/2014/main" id="{A47CD8EA-050C-458E-AC00-3C5FE19EE37E}"/>
              </a:ext>
            </a:extLst>
          </p:cNvPr>
          <p:cNvSpPr>
            <a:spLocks noGrp="1"/>
          </p:cNvSpPr>
          <p:nvPr/>
        </p:nvSpPr>
        <p:spPr>
          <a:xfrm>
            <a:off x="666750" y="3019425"/>
            <a:ext cx="4191000" cy="571500"/>
          </a:xfrm>
          <a:prstGeom prst="rect">
            <a:avLst/>
          </a:prstGeom>
          <a:noFill/>
          <a:ln w="0">
            <a:noFill/>
          </a:ln>
        </p:spPr>
        <p:txBody>
          <a:bodyPr>
            <a:noAutofit/>
          </a:bodyPr>
          <a:lstStyle/>
          <a:p>
            <a:pPr>
              <a:defRPr sz="2175" b="1">
                <a:solidFill>
                  <a:srgbClr val="007F87"/>
                </a:solidFill>
                <a:latin typeface="Arial"/>
                <a:ea typeface="Arial"/>
                <a:cs typeface="Arial"/>
              </a:defRPr>
            </a:pPr>
            <a:r>
              <a:rPr sz="2175" b="1">
                <a:solidFill>
                  <a:srgbClr val="007F87"/>
                </a:solidFill>
                <a:latin typeface="Arial"/>
                <a:ea typeface="Arial"/>
                <a:cs typeface="Arial"/>
              </a:rPr>
              <a:t>Integration problems</a:t>
            </a:r>
          </a:p>
        </p:txBody>
      </p:sp>
      <p:sp>
        <p:nvSpPr>
          <p:cNvPr id="5" name="矩形 4">
            <a:extLst>
              <a:ext uri="{FF2B5EF4-FFF2-40B4-BE49-F238E27FC236}">
                <a16:creationId xmlns:a16="http://schemas.microsoft.com/office/drawing/2014/main" id="{AFE14994-6797-4C74-B66A-32FD987E2AEA}"/>
              </a:ext>
            </a:extLst>
          </p:cNvPr>
          <p:cNvSpPr>
            <a:spLocks noGrp="1"/>
          </p:cNvSpPr>
          <p:nvPr/>
        </p:nvSpPr>
        <p:spPr>
          <a:xfrm>
            <a:off x="5143500" y="3019425"/>
            <a:ext cx="6286500" cy="952500"/>
          </a:xfrm>
          <a:prstGeom prst="rect">
            <a:avLst/>
          </a:prstGeom>
          <a:noFill/>
          <a:ln w="0">
            <a:noFill/>
          </a:ln>
        </p:spPr>
        <p:txBody>
          <a:bodyPr>
            <a:noAutofit/>
          </a:bodyPr>
          <a:lstStyle/>
          <a:p>
            <a:pPr>
              <a:defRPr sz="2100" b="0">
                <a:solidFill>
                  <a:srgbClr val="24384A"/>
                </a:solidFill>
                <a:latin typeface="Arial"/>
                <a:ea typeface="Arial"/>
                <a:cs typeface="Arial"/>
              </a:defRPr>
            </a:pPr>
            <a:r>
              <a:rPr sz="2100" b="0">
                <a:solidFill>
                  <a:srgbClr val="24384A"/>
                </a:solidFill>
                <a:latin typeface="Arial"/>
                <a:ea typeface="Arial"/>
                <a:cs typeface="Arial"/>
              </a:rPr>
              <a:t>Test components throughout development and review merged work</a:t>
            </a:r>
          </a:p>
        </p:txBody>
      </p:sp>
      <p:sp>
        <p:nvSpPr>
          <p:cNvPr id="6" name="矩形 5">
            <a:extLst>
              <a:ext uri="{FF2B5EF4-FFF2-40B4-BE49-F238E27FC236}">
                <a16:creationId xmlns:a16="http://schemas.microsoft.com/office/drawing/2014/main" id="{EE516625-80D3-429A-9C90-EDE2A9578302}"/>
              </a:ext>
            </a:extLst>
          </p:cNvPr>
          <p:cNvSpPr>
            <a:spLocks noGrp="1"/>
          </p:cNvSpPr>
          <p:nvPr/>
        </p:nvSpPr>
        <p:spPr>
          <a:xfrm>
            <a:off x="666750" y="4324350"/>
            <a:ext cx="4191000" cy="571500"/>
          </a:xfrm>
          <a:prstGeom prst="rect">
            <a:avLst/>
          </a:prstGeom>
          <a:noFill/>
          <a:ln w="0">
            <a:noFill/>
          </a:ln>
        </p:spPr>
        <p:txBody>
          <a:bodyPr>
            <a:noAutofit/>
          </a:bodyPr>
          <a:lstStyle/>
          <a:p>
            <a:pPr>
              <a:defRPr sz="2175" b="1">
                <a:solidFill>
                  <a:srgbClr val="007F87"/>
                </a:solidFill>
                <a:latin typeface="Arial"/>
                <a:ea typeface="Arial"/>
                <a:cs typeface="Arial"/>
              </a:defRPr>
            </a:pPr>
            <a:r>
              <a:rPr sz="2175" b="1">
                <a:solidFill>
                  <a:srgbClr val="007F87"/>
                </a:solidFill>
                <a:latin typeface="Arial"/>
                <a:ea typeface="Arial"/>
                <a:cs typeface="Arial"/>
              </a:rPr>
              <a:t>External API problems</a:t>
            </a:r>
          </a:p>
        </p:txBody>
      </p:sp>
      <p:sp>
        <p:nvSpPr>
          <p:cNvPr id="7" name="矩形 6">
            <a:extLst>
              <a:ext uri="{FF2B5EF4-FFF2-40B4-BE49-F238E27FC236}">
                <a16:creationId xmlns:a16="http://schemas.microsoft.com/office/drawing/2014/main" id="{6C739677-4262-44E5-AA45-6271EAC0FD55}"/>
              </a:ext>
            </a:extLst>
          </p:cNvPr>
          <p:cNvSpPr>
            <a:spLocks noGrp="1"/>
          </p:cNvSpPr>
          <p:nvPr/>
        </p:nvSpPr>
        <p:spPr>
          <a:xfrm>
            <a:off x="5143500" y="4324350"/>
            <a:ext cx="6286500" cy="952500"/>
          </a:xfrm>
          <a:prstGeom prst="rect">
            <a:avLst/>
          </a:prstGeom>
          <a:noFill/>
          <a:ln w="0">
            <a:noFill/>
          </a:ln>
        </p:spPr>
        <p:txBody>
          <a:bodyPr>
            <a:noAutofit/>
          </a:bodyPr>
          <a:lstStyle/>
          <a:p>
            <a:pPr>
              <a:defRPr sz="2100" b="0">
                <a:solidFill>
                  <a:srgbClr val="24384A"/>
                </a:solidFill>
                <a:latin typeface="Arial"/>
                <a:ea typeface="Arial"/>
                <a:cs typeface="Arial"/>
              </a:defRPr>
            </a:pPr>
            <a:r>
              <a:rPr sz="2100" b="0">
                <a:solidFill>
                  <a:srgbClr val="24384A"/>
                </a:solidFill>
                <a:latin typeface="Arial"/>
                <a:ea typeface="Arial"/>
                <a:cs typeface="Arial"/>
              </a:rPr>
              <a:t>Evaluate simpler local alternatives if a service is unavailable</a:t>
            </a:r>
          </a:p>
        </p:txBody>
      </p:sp>
      <p:sp>
        <p:nvSpPr>
          <p:cNvPr id="8" name="矩形 7">
            <a:extLst>
              <a:ext uri="{FF2B5EF4-FFF2-40B4-BE49-F238E27FC236}">
                <a16:creationId xmlns:a16="http://schemas.microsoft.com/office/drawing/2014/main" id="{55318DD5-F042-4601-A8BA-EBD68B34077A}"/>
              </a:ext>
            </a:extLst>
          </p:cNvPr>
          <p:cNvSpPr>
            <a:spLocks noGrp="1"/>
          </p:cNvSpPr>
          <p:nvPr/>
        </p:nvSpPr>
        <p:spPr>
          <a:xfrm>
            <a:off x="666750" y="5953125"/>
            <a:ext cx="10668000" cy="523875"/>
          </a:xfrm>
          <a:prstGeom prst="rect">
            <a:avLst/>
          </a:prstGeom>
          <a:noFill/>
          <a:ln w="0">
            <a:noFill/>
          </a:ln>
        </p:spPr>
        <p:txBody>
          <a:bodyPr>
            <a:noAutofit/>
          </a:bodyPr>
          <a:lstStyle/>
          <a:p>
            <a:pPr>
              <a:defRPr sz="1800" b="0">
                <a:solidFill>
                  <a:srgbClr val="536574"/>
                </a:solidFill>
                <a:latin typeface="Arial"/>
                <a:ea typeface="Arial"/>
                <a:cs typeface="Arial"/>
              </a:defRPr>
            </a:pPr>
            <a:r>
              <a:rPr sz="1800" b="0" dirty="0">
                <a:solidFill>
                  <a:srgbClr val="536574"/>
                </a:solidFill>
                <a:latin typeface="Arial"/>
                <a:ea typeface="Arial"/>
                <a:cs typeface="Arial"/>
              </a:rPr>
              <a:t>.</a:t>
            </a:r>
          </a:p>
        </p:txBody>
      </p:sp>
      <p:sp>
        <p:nvSpPr>
          <p:cNvPr id="9" name="矩形 8">
            <a:extLst>
              <a:ext uri="{FF2B5EF4-FFF2-40B4-BE49-F238E27FC236}">
                <a16:creationId xmlns:a16="http://schemas.microsoft.com/office/drawing/2014/main" id="{D05BCDA7-B468-4544-A07F-C0F7EB3A780D}"/>
              </a:ext>
            </a:extLst>
          </p:cNvPr>
          <p:cNvSpPr>
            <a:spLocks noGrp="1"/>
          </p:cNvSpPr>
          <p:nvPr/>
        </p:nvSpPr>
        <p:spPr>
          <a:xfrm>
            <a:off x="11334750" y="6457950"/>
            <a:ext cx="476250" cy="266700"/>
          </a:xfrm>
          <a:prstGeom prst="rect">
            <a:avLst/>
          </a:prstGeom>
          <a:noFill/>
          <a:ln w="0">
            <a:noFill/>
          </a:ln>
        </p:spPr>
        <p:txBody>
          <a:bodyPr>
            <a:noAutofit/>
          </a:bodyPr>
          <a:lstStyle/>
          <a:p>
            <a:pPr>
              <a:defRPr sz="1275" b="0">
                <a:solidFill>
                  <a:srgbClr val="6C7A86"/>
                </a:solidFill>
                <a:latin typeface="Arial"/>
                <a:ea typeface="Arial"/>
                <a:cs typeface="Arial"/>
              </a:defRPr>
            </a:pPr>
            <a:r>
              <a:rPr sz="1275" b="0">
                <a:solidFill>
                  <a:srgbClr val="6C7A86"/>
                </a:solidFill>
                <a:latin typeface="Arial"/>
                <a:ea typeface="Arial"/>
                <a:cs typeface="Arial"/>
              </a:rPr>
              <a:t>07</a:t>
            </a:r>
          </a:p>
        </p:txBody>
      </p:sp>
    </p:spTree>
    <p:extLst>
      <p:ext uri="{BB962C8B-B14F-4D97-AF65-F5344CB8AC3E}">
        <p14:creationId xmlns:p14="http://schemas.microsoft.com/office/powerpoint/2010/main" val="80054206"/>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1059</Words>
  <Application>Microsoft Office PowerPoint</Application>
  <DocSecurity>0</DocSecurity>
  <PresentationFormat>宽屏</PresentationFormat>
  <Paragraphs>75</Paragraphs>
  <Slides>7</Slides>
  <Notes>7</Notes>
  <HiddenSlides>0</HiddenSlides>
  <MMClips>0</MMClips>
  <ScaleCrop>false</ScaleCrop>
  <HeadingPairs>
    <vt:vector size="6" baseType="variant">
      <vt:variant>
        <vt:lpstr>已用的字体</vt:lpstr>
      </vt:variant>
      <vt:variant>
        <vt:i4>2</vt:i4>
      </vt:variant>
      <vt:variant>
        <vt:lpstr>主题</vt:lpstr>
      </vt:variant>
      <vt:variant>
        <vt:i4>1</vt:i4>
      </vt:variant>
      <vt:variant>
        <vt:lpstr>幻灯片标题</vt:lpstr>
      </vt:variant>
      <vt:variant>
        <vt:i4>7</vt:i4>
      </vt:variant>
    </vt:vector>
  </HeadingPairs>
  <TitlesOfParts>
    <vt:vector size="10" baseType="lpstr">
      <vt:lpstr>Aptos</vt:lpstr>
      <vt:lpstr>Arial</vt:lpstr>
      <vt:lpstr>ChatGPT</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1196941082@qq.com</cp:lastModifiedBy>
  <cp:revision>1</cp:revision>
  <dcterms:created xsi:type="dcterms:W3CDTF">2026-09-29T12:04:30Z</dcterms:created>
  <dcterms:modified xsi:type="dcterms:W3CDTF">2026-09-29T12:11:08Z</dcterms:modified>
</cp:coreProperties>
</file>